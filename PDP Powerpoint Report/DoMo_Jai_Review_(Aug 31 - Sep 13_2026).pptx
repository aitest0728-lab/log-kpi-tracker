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94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0"/>
    <c:plotArea>
      <c:layout/>
      <c:pieChart>
        <c:varyColors val="1"/>
        <c:ser>
          <c:idx val="0"/>
          <c:order val="0"/>
          <c:tx>
            <c:strRef>
              <c:f>Sheet1!$B$1</c:f>
              <c:strCache>
                <c:ptCount val="1"/>
                <c:pt idx="0">
                  <c:v>Cases</c:v>
                </c:pt>
              </c:strCache>
            </c:strRef>
          </c:tx>
          <c:dPt>
            <c:idx val="0"/>
            <c:bubble3D val="0"/>
            <c:spPr>
              <a:solidFill>
                <a:srgbClr val="BDD7EE"/>
              </a:solidFill>
              <a:ln w="9525">
                <a:solidFill>
                  <a:srgbClr val="404040"/>
                </a:solidFill>
              </a:ln>
            </c:spPr>
            <c:extLst>
              <c:ext xmlns:c16="http://schemas.microsoft.com/office/drawing/2014/chart" uri="{C3380CC4-5D6E-409C-BE32-E72D297353CC}">
                <c16:uniqueId val="{00000001-8CD9-4414-911D-4EDCD08CB9C7}"/>
              </c:ext>
            </c:extLst>
          </c:dPt>
          <c:dPt>
            <c:idx val="1"/>
            <c:bubble3D val="0"/>
            <c:spPr>
              <a:solidFill>
                <a:srgbClr val="E7E6E6"/>
              </a:solidFill>
              <a:ln w="9525">
                <a:solidFill>
                  <a:srgbClr val="404040"/>
                </a:solidFill>
              </a:ln>
            </c:spPr>
            <c:extLst>
              <c:ext xmlns:c16="http://schemas.microsoft.com/office/drawing/2014/chart" uri="{C3380CC4-5D6E-409C-BE32-E72D297353CC}">
                <c16:uniqueId val="{00000003-8CD9-4414-911D-4EDCD08CB9C7}"/>
              </c:ext>
            </c:extLst>
          </c:dPt>
          <c:dPt>
            <c:idx val="2"/>
            <c:bubble3D val="0"/>
            <c:spPr>
              <a:solidFill>
                <a:srgbClr val="E8D6C3"/>
              </a:solidFill>
              <a:ln w="9525">
                <a:solidFill>
                  <a:srgbClr val="404040"/>
                </a:solidFill>
              </a:ln>
            </c:spPr>
            <c:extLst>
              <c:ext xmlns:c16="http://schemas.microsoft.com/office/drawing/2014/chart" uri="{C3380CC4-5D6E-409C-BE32-E72D297353CC}">
                <c16:uniqueId val="{00000005-8CD9-4414-911D-4EDCD08CB9C7}"/>
              </c:ext>
            </c:extLst>
          </c:dPt>
          <c:dPt>
            <c:idx val="3"/>
            <c:bubble3D val="0"/>
            <c:spPr>
              <a:solidFill>
                <a:srgbClr val="F4CCCC"/>
              </a:solidFill>
              <a:ln w="9525">
                <a:solidFill>
                  <a:srgbClr val="404040"/>
                </a:solidFill>
              </a:ln>
            </c:spPr>
            <c:extLst>
              <c:ext xmlns:c16="http://schemas.microsoft.com/office/drawing/2014/chart" uri="{C3380CC4-5D6E-409C-BE32-E72D297353CC}">
                <c16:uniqueId val="{00000007-8CD9-4414-911D-4EDCD08CB9C7}"/>
              </c:ext>
            </c:extLst>
          </c:dPt>
          <c:dPt>
            <c:idx val="4"/>
            <c:bubble3D val="0"/>
            <c:spPr>
              <a:solidFill>
                <a:srgbClr val="FFF2CC"/>
              </a:solidFill>
              <a:ln w="9525">
                <a:solidFill>
                  <a:srgbClr val="404040"/>
                </a:solidFill>
              </a:ln>
            </c:spPr>
            <c:extLst>
              <c:ext xmlns:c16="http://schemas.microsoft.com/office/drawing/2014/chart" uri="{C3380CC4-5D6E-409C-BE32-E72D297353CC}">
                <c16:uniqueId val="{00000009-8CD9-4414-911D-4EDCD08CB9C7}"/>
              </c:ext>
            </c:extLst>
          </c:dPt>
          <c:dPt>
            <c:idx val="5"/>
            <c:bubble3D val="0"/>
            <c:spPr>
              <a:solidFill>
                <a:srgbClr val="E2EFDA"/>
              </a:solidFill>
              <a:ln w="9525">
                <a:solidFill>
                  <a:srgbClr val="404040"/>
                </a:solidFill>
              </a:ln>
            </c:spPr>
            <c:extLst>
              <c:ext xmlns:c16="http://schemas.microsoft.com/office/drawing/2014/chart" uri="{C3380CC4-5D6E-409C-BE32-E72D297353CC}">
                <c16:uniqueId val="{0000000B-8CD9-4414-911D-4EDCD08CB9C7}"/>
              </c:ext>
            </c:extLst>
          </c:dPt>
          <c:dLbls>
            <c:spPr>
              <a:noFill/>
              <a:ln>
                <a:noFill/>
              </a:ln>
              <a:effectLst/>
            </c:spPr>
            <c:txPr>
              <a:bodyPr/>
              <a:lstStyle/>
              <a:p>
                <a:pPr>
                  <a:defRPr sz="1400" b="1">
                    <a:solidFill>
                      <a:srgbClr val="404040"/>
                    </a:solidFil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Sheet1!$A$2:$A$7</c:f>
              <c:strCache>
                <c:ptCount val="6"/>
                <c:pt idx="0">
                  <c:v>包裝問題</c:v>
                </c:pt>
                <c:pt idx="1">
                  <c:v>其他</c:v>
                </c:pt>
                <c:pt idx="2">
                  <c:v>儲存問題</c:v>
                </c:pt>
                <c:pt idx="3">
                  <c:v>溫度問題</c:v>
                </c:pt>
                <c:pt idx="4">
                  <c:v>罐裝問題</c:v>
                </c:pt>
                <c:pt idx="5">
                  <c:v>天雨/水濕問題</c:v>
                </c:pt>
              </c:strCache>
            </c:strRef>
          </c:cat>
          <c:val>
            <c:numRef>
              <c:f>Sheet1!$B$2:$B$7</c:f>
              <c:numCache>
                <c:formatCode>General</c:formatCode>
                <c:ptCount val="6"/>
                <c:pt idx="0">
                  <c:v>25</c:v>
                </c:pt>
                <c:pt idx="1">
                  <c:v>22</c:v>
                </c:pt>
                <c:pt idx="2">
                  <c:v>10</c:v>
                </c:pt>
                <c:pt idx="3">
                  <c:v>5</c:v>
                </c:pt>
                <c:pt idx="4">
                  <c:v>2</c:v>
                </c:pt>
                <c:pt idx="5">
                  <c:v>1</c:v>
                </c:pt>
              </c:numCache>
            </c:numRef>
          </c:val>
          <c:extLst>
            <c:ext xmlns:c16="http://schemas.microsoft.com/office/drawing/2014/chart" uri="{C3380CC4-5D6E-409C-BE32-E72D297353CC}">
              <c16:uniqueId val="{0000000C-8CD9-4414-911D-4EDCD08CB9C7}"/>
            </c:ext>
          </c:extLst>
        </c:ser>
        <c:dLbls>
          <c:showLegendKey val="0"/>
          <c:showVal val="1"/>
          <c:showCatName val="0"/>
          <c:showSerName val="0"/>
          <c:showPercent val="0"/>
          <c:showBubbleSize val="0"/>
          <c:showLeaderLines val="1"/>
        </c:dLbls>
        <c:firstSliceAng val="0"/>
      </c:pieChart>
    </c:plotArea>
    <c:legend>
      <c:legendPos val="r"/>
      <c:overlay val="0"/>
    </c:legend>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a:off x="9601200" y="5029200"/>
            <a:ext cx="2560320" cy="1828800"/>
          </a:xfrm>
          <a:prstGeom prst="rtTriangl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8229600" cy="2743200"/>
          </a:xfrm>
          <a:prstGeom prst="rect">
            <a:avLst/>
          </a:prstGeom>
          <a:noFill/>
        </p:spPr>
        <p:txBody>
          <a:bodyPr wrap="square">
            <a:spAutoFit/>
          </a:bodyPr>
          <a:lstStyle/>
          <a:p>
            <a:pPr algn="l"/>
            <a:r>
              <a:rPr sz="4000" b="1">
                <a:solidFill>
                  <a:srgbClr val="FFFFFF"/>
                </a:solidFill>
              </a:rPr>
              <a:t>Weekly Poor PDP Case Review</a:t>
            </a:r>
          </a:p>
          <a:p>
            <a:pPr algn="l"/>
            <a:r>
              <a:rPr sz="2800">
                <a:solidFill>
                  <a:srgbClr val="BDD7EE"/>
                </a:solidFill>
              </a:rPr>
              <a:t>Aug 31 - Sep 13,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1600" b="1" i="0">
                <a:solidFill>
                  <a:srgbClr val="2E75B6"/>
                </a:solidFill>
              </a:rPr>
              <a:t>Overview  |  Aug 31 - Sep 13, 2026</a:t>
            </a:r>
          </a:p>
        </p:txBody>
      </p:sp>
      <p:graphicFrame>
        <p:nvGraphicFramePr>
          <p:cNvPr id="5" name="Table 4"/>
          <p:cNvGraphicFramePr>
            <a:graphicFrameLocks noGrp="1"/>
          </p:cNvGraphicFramePr>
          <p:nvPr/>
        </p:nvGraphicFramePr>
        <p:xfrm>
          <a:off x="731520" y="1737360"/>
          <a:ext cx="8686800" cy="29718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594360">
                <a:tc>
                  <a:txBody>
                    <a:bodyPr/>
                    <a:lstStyle/>
                    <a:p>
                      <a:pPr algn="ctr"/>
                      <a:r>
                        <a:rPr sz="2000" b="1">
                          <a:solidFill>
                            <a:srgbClr val="FFFFFF"/>
                          </a:solidFill>
                        </a:rPr>
                        <a:t>Metric</a:t>
                      </a:r>
                    </a:p>
                  </a:txBody>
                  <a:tcPr>
                    <a:solidFill>
                      <a:srgbClr val="1F497D"/>
                    </a:solidFill>
                  </a:tcPr>
                </a:tc>
                <a:tc>
                  <a:txBody>
                    <a:bodyPr/>
                    <a:lstStyle/>
                    <a:p>
                      <a:pPr algn="ctr"/>
                      <a:r>
                        <a:rPr sz="2000" b="1">
                          <a:solidFill>
                            <a:srgbClr val="FFFFFF"/>
                          </a:solidFill>
                        </a:rPr>
                        <a:t>Value</a:t>
                      </a:r>
                    </a:p>
                  </a:txBody>
                  <a:tcPr>
                    <a:solidFill>
                      <a:srgbClr val="1F497D"/>
                    </a:solidFill>
                  </a:tcPr>
                </a:tc>
                <a:extLst>
                  <a:ext uri="{0D108BD9-81ED-4DB2-BD59-A6C34878D82A}">
                    <a16:rowId xmlns:a16="http://schemas.microsoft.com/office/drawing/2014/main" val="10000"/>
                  </a:ext>
                </a:extLst>
              </a:tr>
              <a:tr h="594360">
                <a:tc>
                  <a:txBody>
                    <a:bodyPr/>
                    <a:lstStyle/>
                    <a:p>
                      <a:pPr algn="l"/>
                      <a:r>
                        <a:rPr sz="2000" b="1">
                          <a:solidFill>
                            <a:srgbClr val="404040"/>
                          </a:solidFill>
                        </a:rPr>
                        <a:t>Total Poor Case in last 2 weeks</a:t>
                      </a:r>
                    </a:p>
                  </a:txBody>
                  <a:tcPr>
                    <a:solidFill>
                      <a:srgbClr val="F2F2F2"/>
                    </a:solidFill>
                  </a:tcPr>
                </a:tc>
                <a:tc>
                  <a:txBody>
                    <a:bodyPr/>
                    <a:lstStyle/>
                    <a:p>
                      <a:pPr algn="ctr"/>
                      <a:r>
                        <a:rPr sz="2000" b="0">
                          <a:solidFill>
                            <a:srgbClr val="404040"/>
                          </a:solidFill>
                        </a:rPr>
                        <a:t>96</a:t>
                      </a:r>
                    </a:p>
                  </a:txBody>
                  <a:tcPr>
                    <a:solidFill>
                      <a:srgbClr val="F2F2F2"/>
                    </a:solidFill>
                  </a:tcPr>
                </a:tc>
                <a:extLst>
                  <a:ext uri="{0D108BD9-81ED-4DB2-BD59-A6C34878D82A}">
                    <a16:rowId xmlns:a16="http://schemas.microsoft.com/office/drawing/2014/main" val="10001"/>
                  </a:ext>
                </a:extLst>
              </a:tr>
              <a:tr h="594360">
                <a:tc>
                  <a:txBody>
                    <a:bodyPr/>
                    <a:lstStyle/>
                    <a:p>
                      <a:pPr algn="l"/>
                      <a:r>
                        <a:rPr sz="2000" b="1">
                          <a:solidFill>
                            <a:srgbClr val="404040"/>
                          </a:solidFill>
                        </a:rPr>
                        <a:t>Total Types of Product</a:t>
                      </a:r>
                    </a:p>
                  </a:txBody>
                  <a:tcPr>
                    <a:solidFill>
                      <a:srgbClr val="FFFFFF"/>
                    </a:solidFill>
                  </a:tcPr>
                </a:tc>
                <a:tc>
                  <a:txBody>
                    <a:bodyPr/>
                    <a:lstStyle/>
                    <a:p>
                      <a:pPr algn="ctr"/>
                      <a:r>
                        <a:rPr sz="2000" b="0">
                          <a:solidFill>
                            <a:srgbClr val="404040"/>
                          </a:solidFill>
                        </a:rPr>
                        <a:t>22</a:t>
                      </a:r>
                    </a:p>
                  </a:txBody>
                  <a:tcPr>
                    <a:solidFill>
                      <a:srgbClr val="FFFFFF"/>
                    </a:solidFill>
                  </a:tcPr>
                </a:tc>
                <a:extLst>
                  <a:ext uri="{0D108BD9-81ED-4DB2-BD59-A6C34878D82A}">
                    <a16:rowId xmlns:a16="http://schemas.microsoft.com/office/drawing/2014/main" val="10002"/>
                  </a:ext>
                </a:extLst>
              </a:tr>
              <a:tr h="594360">
                <a:tc>
                  <a:txBody>
                    <a:bodyPr/>
                    <a:lstStyle/>
                    <a:p>
                      <a:pPr algn="l"/>
                      <a:r>
                        <a:rPr sz="2000" b="1">
                          <a:solidFill>
                            <a:srgbClr val="404040"/>
                          </a:solidFill>
                        </a:rPr>
                        <a:t>Total Case related to Log Team (%)</a:t>
                      </a:r>
                    </a:p>
                  </a:txBody>
                  <a:tcPr>
                    <a:solidFill>
                      <a:srgbClr val="F2F2F2"/>
                    </a:solidFill>
                  </a:tcPr>
                </a:tc>
                <a:tc>
                  <a:txBody>
                    <a:bodyPr/>
                    <a:lstStyle/>
                    <a:p>
                      <a:pPr algn="ctr"/>
                      <a:r>
                        <a:rPr sz="2000" b="0">
                          <a:solidFill>
                            <a:srgbClr val="404040"/>
                          </a:solidFill>
                        </a:rPr>
                        <a:t>65 (67.7%)</a:t>
                      </a:r>
                    </a:p>
                  </a:txBody>
                  <a:tcPr>
                    <a:solidFill>
                      <a:srgbClr val="F2F2F2"/>
                    </a:solidFill>
                  </a:tcPr>
                </a:tc>
                <a:extLst>
                  <a:ext uri="{0D108BD9-81ED-4DB2-BD59-A6C34878D82A}">
                    <a16:rowId xmlns:a16="http://schemas.microsoft.com/office/drawing/2014/main" val="10003"/>
                  </a:ext>
                </a:extLst>
              </a:tr>
              <a:tr h="594360">
                <a:tc>
                  <a:txBody>
                    <a:bodyPr/>
                    <a:lstStyle/>
                    <a:p>
                      <a:pPr algn="l"/>
                      <a:r>
                        <a:rPr sz="2000" b="1">
                          <a:solidFill>
                            <a:srgbClr val="404040"/>
                          </a:solidFill>
                        </a:rPr>
                        <a:t>Total Case not related to Log Team (%)</a:t>
                      </a:r>
                    </a:p>
                  </a:txBody>
                  <a:tcPr>
                    <a:solidFill>
                      <a:srgbClr val="FFFFFF"/>
                    </a:solidFill>
                  </a:tcPr>
                </a:tc>
                <a:tc>
                  <a:txBody>
                    <a:bodyPr/>
                    <a:lstStyle/>
                    <a:p>
                      <a:pPr algn="ctr"/>
                      <a:r>
                        <a:rPr sz="2000" b="0">
                          <a:solidFill>
                            <a:srgbClr val="404040"/>
                          </a:solidFill>
                        </a:rPr>
                        <a:t>31 (32.3%)</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1600" b="1" i="0">
                <a:solidFill>
                  <a:srgbClr val="2E75B6"/>
                </a:solidFill>
              </a:rPr>
              <a:t>Problems Pattern  |  Aug 31 - Sep 13, 2026</a:t>
            </a:r>
          </a:p>
        </p:txBody>
      </p:sp>
      <p:graphicFrame>
        <p:nvGraphicFramePr>
          <p:cNvPr id="5" name="Table 4"/>
          <p:cNvGraphicFramePr>
            <a:graphicFrameLocks noGrp="1"/>
          </p:cNvGraphicFramePr>
          <p:nvPr/>
        </p:nvGraphicFramePr>
        <p:xfrm>
          <a:off x="457200" y="1828800"/>
          <a:ext cx="6126480" cy="3200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57200">
                <a:tc>
                  <a:txBody>
                    <a:bodyPr/>
                    <a:lstStyle/>
                    <a:p>
                      <a:pPr algn="ctr"/>
                      <a:r>
                        <a:rPr sz="1600" b="1">
                          <a:solidFill>
                            <a:srgbClr val="FFFFFF"/>
                          </a:solidFill>
                        </a:rPr>
                        <a:t>Problem</a:t>
                      </a:r>
                    </a:p>
                  </a:txBody>
                  <a:tcPr>
                    <a:solidFill>
                      <a:srgbClr val="1F497D"/>
                    </a:solidFill>
                  </a:tcPr>
                </a:tc>
                <a:tc>
                  <a:txBody>
                    <a:bodyPr/>
                    <a:lstStyle/>
                    <a:p>
                      <a:pPr algn="ctr"/>
                      <a:r>
                        <a:rPr sz="1600" b="1">
                          <a:solidFill>
                            <a:srgbClr val="FFFFFF"/>
                          </a:solidFill>
                        </a:rPr>
                        <a:t>Cases</a:t>
                      </a:r>
                    </a:p>
                  </a:txBody>
                  <a:tcPr>
                    <a:solidFill>
                      <a:srgbClr val="1F497D"/>
                    </a:solidFill>
                  </a:tcPr>
                </a:tc>
                <a:tc>
                  <a:txBody>
                    <a:bodyPr/>
                    <a:lstStyle/>
                    <a:p>
                      <a:pPr algn="ctr"/>
                      <a:r>
                        <a:rPr sz="1600" b="1">
                          <a:solidFill>
                            <a:srgbClr val="FFFFFF"/>
                          </a:solidFill>
                        </a:rPr>
                        <a:t>Products</a:t>
                      </a:r>
                    </a:p>
                  </a:txBody>
                  <a:tcPr>
                    <a:solidFill>
                      <a:srgbClr val="1F497D"/>
                    </a:solidFill>
                  </a:tcPr>
                </a:tc>
                <a:tc>
                  <a:txBody>
                    <a:bodyPr/>
                    <a:lstStyle/>
                    <a:p>
                      <a:pPr algn="ctr"/>
                      <a:r>
                        <a:rPr sz="1600" b="1">
                          <a:solidFill>
                            <a:srgbClr val="FFFFFF"/>
                          </a:solidFill>
                        </a:rPr>
                        <a:t>%</a:t>
                      </a:r>
                    </a:p>
                  </a:txBody>
                  <a:tcPr>
                    <a:solidFill>
                      <a:srgbClr val="1F497D"/>
                    </a:solidFill>
                  </a:tcPr>
                </a:tc>
                <a:extLst>
                  <a:ext uri="{0D108BD9-81ED-4DB2-BD59-A6C34878D82A}">
                    <a16:rowId xmlns:a16="http://schemas.microsoft.com/office/drawing/2014/main" val="10000"/>
                  </a:ext>
                </a:extLst>
              </a:tr>
              <a:tr h="457200">
                <a:tc>
                  <a:txBody>
                    <a:bodyPr/>
                    <a:lstStyle/>
                    <a:p>
                      <a:pPr algn="ctr"/>
                      <a:r>
                        <a:rPr sz="1600" b="1">
                          <a:solidFill>
                            <a:srgbClr val="000000"/>
                          </a:solidFill>
                        </a:rPr>
                        <a:t>包裝問題</a:t>
                      </a:r>
                    </a:p>
                  </a:txBody>
                  <a:tcPr>
                    <a:solidFill>
                      <a:srgbClr val="BDD7EE"/>
                    </a:solidFill>
                  </a:tcPr>
                </a:tc>
                <a:tc>
                  <a:txBody>
                    <a:bodyPr/>
                    <a:lstStyle/>
                    <a:p>
                      <a:pPr algn="ctr"/>
                      <a:r>
                        <a:rPr sz="1600" b="0">
                          <a:solidFill>
                            <a:srgbClr val="404040"/>
                          </a:solidFill>
                        </a:rPr>
                        <a:t>25</a:t>
                      </a:r>
                    </a:p>
                  </a:txBody>
                  <a:tcPr>
                    <a:solidFill>
                      <a:srgbClr val="F2F2F2"/>
                    </a:solidFill>
                  </a:tcPr>
                </a:tc>
                <a:tc>
                  <a:txBody>
                    <a:bodyPr/>
                    <a:lstStyle/>
                    <a:p>
                      <a:pPr algn="ctr"/>
                      <a:r>
                        <a:rPr sz="1600" b="0">
                          <a:solidFill>
                            <a:srgbClr val="404040"/>
                          </a:solidFill>
                        </a:rPr>
                        <a:t>12</a:t>
                      </a:r>
                    </a:p>
                  </a:txBody>
                  <a:tcPr>
                    <a:solidFill>
                      <a:srgbClr val="F2F2F2"/>
                    </a:solidFill>
                  </a:tcPr>
                </a:tc>
                <a:tc>
                  <a:txBody>
                    <a:bodyPr/>
                    <a:lstStyle/>
                    <a:p>
                      <a:pPr algn="ctr"/>
                      <a:r>
                        <a:rPr sz="1600" b="0">
                          <a:solidFill>
                            <a:srgbClr val="404040"/>
                          </a:solidFill>
                        </a:rPr>
                        <a:t>38.5%</a:t>
                      </a:r>
                    </a:p>
                  </a:txBody>
                  <a:tcPr>
                    <a:solidFill>
                      <a:srgbClr val="F2F2F2"/>
                    </a:solidFill>
                  </a:tcPr>
                </a:tc>
                <a:extLst>
                  <a:ext uri="{0D108BD9-81ED-4DB2-BD59-A6C34878D82A}">
                    <a16:rowId xmlns:a16="http://schemas.microsoft.com/office/drawing/2014/main" val="10001"/>
                  </a:ext>
                </a:extLst>
              </a:tr>
              <a:tr h="457200">
                <a:tc>
                  <a:txBody>
                    <a:bodyPr/>
                    <a:lstStyle/>
                    <a:p>
                      <a:pPr algn="ctr"/>
                      <a:r>
                        <a:rPr sz="1600" b="1">
                          <a:solidFill>
                            <a:srgbClr val="000000"/>
                          </a:solidFill>
                        </a:rPr>
                        <a:t>其他</a:t>
                      </a:r>
                    </a:p>
                  </a:txBody>
                  <a:tcPr>
                    <a:solidFill>
                      <a:srgbClr val="E7E6E6"/>
                    </a:solidFill>
                  </a:tcPr>
                </a:tc>
                <a:tc>
                  <a:txBody>
                    <a:bodyPr/>
                    <a:lstStyle/>
                    <a:p>
                      <a:pPr algn="ctr"/>
                      <a:r>
                        <a:rPr sz="1600" b="0">
                          <a:solidFill>
                            <a:srgbClr val="404040"/>
                          </a:solidFill>
                        </a:rPr>
                        <a:t>22</a:t>
                      </a:r>
                    </a:p>
                  </a:txBody>
                  <a:tcPr>
                    <a:solidFill>
                      <a:srgbClr val="FFFFFF"/>
                    </a:solidFill>
                  </a:tcPr>
                </a:tc>
                <a:tc>
                  <a:txBody>
                    <a:bodyPr/>
                    <a:lstStyle/>
                    <a:p>
                      <a:pPr algn="ctr"/>
                      <a:r>
                        <a:rPr sz="1600" b="0">
                          <a:solidFill>
                            <a:srgbClr val="404040"/>
                          </a:solidFill>
                        </a:rPr>
                        <a:t>14</a:t>
                      </a:r>
                    </a:p>
                  </a:txBody>
                  <a:tcPr>
                    <a:solidFill>
                      <a:srgbClr val="FFFFFF"/>
                    </a:solidFill>
                  </a:tcPr>
                </a:tc>
                <a:tc>
                  <a:txBody>
                    <a:bodyPr/>
                    <a:lstStyle/>
                    <a:p>
                      <a:pPr algn="ctr"/>
                      <a:r>
                        <a:rPr sz="1600" b="0">
                          <a:solidFill>
                            <a:srgbClr val="404040"/>
                          </a:solidFill>
                        </a:rPr>
                        <a:t>33.8%</a:t>
                      </a:r>
                    </a:p>
                  </a:txBody>
                  <a:tcPr>
                    <a:solidFill>
                      <a:srgbClr val="FFFFFF"/>
                    </a:solidFill>
                  </a:tcPr>
                </a:tc>
                <a:extLst>
                  <a:ext uri="{0D108BD9-81ED-4DB2-BD59-A6C34878D82A}">
                    <a16:rowId xmlns:a16="http://schemas.microsoft.com/office/drawing/2014/main" val="10002"/>
                  </a:ext>
                </a:extLst>
              </a:tr>
              <a:tr h="457200">
                <a:tc>
                  <a:txBody>
                    <a:bodyPr/>
                    <a:lstStyle/>
                    <a:p>
                      <a:pPr algn="ctr"/>
                      <a:r>
                        <a:rPr sz="1600" b="1">
                          <a:solidFill>
                            <a:srgbClr val="000000"/>
                          </a:solidFill>
                        </a:rPr>
                        <a:t>儲存問題</a:t>
                      </a:r>
                    </a:p>
                  </a:txBody>
                  <a:tcPr>
                    <a:solidFill>
                      <a:srgbClr val="E8D6C3"/>
                    </a:solidFill>
                  </a:tcPr>
                </a:tc>
                <a:tc>
                  <a:txBody>
                    <a:bodyPr/>
                    <a:lstStyle/>
                    <a:p>
                      <a:pPr algn="ctr"/>
                      <a:r>
                        <a:rPr sz="1600" b="0">
                          <a:solidFill>
                            <a:srgbClr val="404040"/>
                          </a:solidFill>
                        </a:rPr>
                        <a:t>10</a:t>
                      </a:r>
                    </a:p>
                  </a:txBody>
                  <a:tcPr>
                    <a:solidFill>
                      <a:srgbClr val="F2F2F2"/>
                    </a:solidFill>
                  </a:tcPr>
                </a:tc>
                <a:tc>
                  <a:txBody>
                    <a:bodyPr/>
                    <a:lstStyle/>
                    <a:p>
                      <a:pPr algn="ctr"/>
                      <a:r>
                        <a:rPr sz="1600" b="0">
                          <a:solidFill>
                            <a:srgbClr val="404040"/>
                          </a:solidFill>
                        </a:rPr>
                        <a:t>1</a:t>
                      </a:r>
                    </a:p>
                  </a:txBody>
                  <a:tcPr>
                    <a:solidFill>
                      <a:srgbClr val="F2F2F2"/>
                    </a:solidFill>
                  </a:tcPr>
                </a:tc>
                <a:tc>
                  <a:txBody>
                    <a:bodyPr/>
                    <a:lstStyle/>
                    <a:p>
                      <a:pPr algn="ctr"/>
                      <a:r>
                        <a:rPr sz="1600" b="0">
                          <a:solidFill>
                            <a:srgbClr val="404040"/>
                          </a:solidFill>
                        </a:rPr>
                        <a:t>15.4%</a:t>
                      </a:r>
                    </a:p>
                  </a:txBody>
                  <a:tcPr>
                    <a:solidFill>
                      <a:srgbClr val="F2F2F2"/>
                    </a:solidFill>
                  </a:tcPr>
                </a:tc>
                <a:extLst>
                  <a:ext uri="{0D108BD9-81ED-4DB2-BD59-A6C34878D82A}">
                    <a16:rowId xmlns:a16="http://schemas.microsoft.com/office/drawing/2014/main" val="10003"/>
                  </a:ext>
                </a:extLst>
              </a:tr>
              <a:tr h="457200">
                <a:tc>
                  <a:txBody>
                    <a:bodyPr/>
                    <a:lstStyle/>
                    <a:p>
                      <a:pPr algn="ctr"/>
                      <a:r>
                        <a:rPr sz="1600" b="1">
                          <a:solidFill>
                            <a:srgbClr val="000000"/>
                          </a:solidFill>
                        </a:rPr>
                        <a:t>溫度問題</a:t>
                      </a:r>
                    </a:p>
                  </a:txBody>
                  <a:tcPr>
                    <a:solidFill>
                      <a:srgbClr val="F4CCCC"/>
                    </a:solidFill>
                  </a:tcPr>
                </a:tc>
                <a:tc>
                  <a:txBody>
                    <a:bodyPr/>
                    <a:lstStyle/>
                    <a:p>
                      <a:pPr algn="ctr"/>
                      <a:r>
                        <a:rPr sz="1600" b="0">
                          <a:solidFill>
                            <a:srgbClr val="404040"/>
                          </a:solidFill>
                        </a:rPr>
                        <a:t>5</a:t>
                      </a:r>
                    </a:p>
                  </a:txBody>
                  <a:tcPr>
                    <a:solidFill>
                      <a:srgbClr val="FFFFFF"/>
                    </a:solidFill>
                  </a:tcPr>
                </a:tc>
                <a:tc>
                  <a:txBody>
                    <a:bodyPr/>
                    <a:lstStyle/>
                    <a:p>
                      <a:pPr algn="ctr"/>
                      <a:r>
                        <a:rPr sz="1600" b="0">
                          <a:solidFill>
                            <a:srgbClr val="404040"/>
                          </a:solidFill>
                        </a:rPr>
                        <a:t>2</a:t>
                      </a:r>
                    </a:p>
                  </a:txBody>
                  <a:tcPr>
                    <a:solidFill>
                      <a:srgbClr val="FFFFFF"/>
                    </a:solidFill>
                  </a:tcPr>
                </a:tc>
                <a:tc>
                  <a:txBody>
                    <a:bodyPr/>
                    <a:lstStyle/>
                    <a:p>
                      <a:pPr algn="ctr"/>
                      <a:r>
                        <a:rPr sz="1600" b="0">
                          <a:solidFill>
                            <a:srgbClr val="404040"/>
                          </a:solidFill>
                        </a:rPr>
                        <a:t>7.7%</a:t>
                      </a:r>
                    </a:p>
                  </a:txBody>
                  <a:tcPr>
                    <a:solidFill>
                      <a:srgbClr val="FFFFFF"/>
                    </a:solidFill>
                  </a:tcPr>
                </a:tc>
                <a:extLst>
                  <a:ext uri="{0D108BD9-81ED-4DB2-BD59-A6C34878D82A}">
                    <a16:rowId xmlns:a16="http://schemas.microsoft.com/office/drawing/2014/main" val="10004"/>
                  </a:ext>
                </a:extLst>
              </a:tr>
              <a:tr h="457200">
                <a:tc>
                  <a:txBody>
                    <a:bodyPr/>
                    <a:lstStyle/>
                    <a:p>
                      <a:pPr algn="ctr"/>
                      <a:r>
                        <a:rPr sz="1600" b="1">
                          <a:solidFill>
                            <a:srgbClr val="000000"/>
                          </a:solidFill>
                        </a:rPr>
                        <a:t>罐裝問題</a:t>
                      </a:r>
                    </a:p>
                  </a:txBody>
                  <a:tcPr>
                    <a:solidFill>
                      <a:srgbClr val="FFF2CC"/>
                    </a:solidFill>
                  </a:tcPr>
                </a:tc>
                <a:tc>
                  <a:txBody>
                    <a:bodyPr/>
                    <a:lstStyle/>
                    <a:p>
                      <a:pPr algn="ctr"/>
                      <a:r>
                        <a:rPr sz="1600" b="0">
                          <a:solidFill>
                            <a:srgbClr val="404040"/>
                          </a:solidFill>
                        </a:rPr>
                        <a:t>2</a:t>
                      </a:r>
                    </a:p>
                  </a:txBody>
                  <a:tcPr>
                    <a:solidFill>
                      <a:srgbClr val="F2F2F2"/>
                    </a:solidFill>
                  </a:tcPr>
                </a:tc>
                <a:tc>
                  <a:txBody>
                    <a:bodyPr/>
                    <a:lstStyle/>
                    <a:p>
                      <a:pPr algn="ctr"/>
                      <a:r>
                        <a:rPr sz="1600" b="0">
                          <a:solidFill>
                            <a:srgbClr val="404040"/>
                          </a:solidFill>
                        </a:rPr>
                        <a:t>2</a:t>
                      </a:r>
                    </a:p>
                  </a:txBody>
                  <a:tcPr>
                    <a:solidFill>
                      <a:srgbClr val="F2F2F2"/>
                    </a:solidFill>
                  </a:tcPr>
                </a:tc>
                <a:tc>
                  <a:txBody>
                    <a:bodyPr/>
                    <a:lstStyle/>
                    <a:p>
                      <a:pPr algn="ctr"/>
                      <a:r>
                        <a:rPr sz="1600" b="0">
                          <a:solidFill>
                            <a:srgbClr val="404040"/>
                          </a:solidFill>
                        </a:rPr>
                        <a:t>3.1%</a:t>
                      </a:r>
                    </a:p>
                  </a:txBody>
                  <a:tcPr>
                    <a:solidFill>
                      <a:srgbClr val="F2F2F2"/>
                    </a:solidFill>
                  </a:tcPr>
                </a:tc>
                <a:extLst>
                  <a:ext uri="{0D108BD9-81ED-4DB2-BD59-A6C34878D82A}">
                    <a16:rowId xmlns:a16="http://schemas.microsoft.com/office/drawing/2014/main" val="10005"/>
                  </a:ext>
                </a:extLst>
              </a:tr>
              <a:tr h="457200">
                <a:tc>
                  <a:txBody>
                    <a:bodyPr/>
                    <a:lstStyle/>
                    <a:p>
                      <a:pPr algn="ctr"/>
                      <a:r>
                        <a:rPr sz="1600" b="1">
                          <a:solidFill>
                            <a:srgbClr val="000000"/>
                          </a:solidFill>
                        </a:rPr>
                        <a:t>天雨/水濕問題</a:t>
                      </a:r>
                    </a:p>
                  </a:txBody>
                  <a:tcPr>
                    <a:solidFill>
                      <a:srgbClr val="E2EFDA"/>
                    </a:solidFill>
                  </a:tcPr>
                </a:tc>
                <a:tc>
                  <a:txBody>
                    <a:bodyPr/>
                    <a:lstStyle/>
                    <a:p>
                      <a:pPr algn="ctr"/>
                      <a:r>
                        <a:rPr sz="1600" b="0">
                          <a:solidFill>
                            <a:srgbClr val="404040"/>
                          </a:solidFill>
                        </a:rPr>
                        <a:t>1</a:t>
                      </a:r>
                    </a:p>
                  </a:txBody>
                  <a:tcPr>
                    <a:solidFill>
                      <a:srgbClr val="FFFFFF"/>
                    </a:solidFill>
                  </a:tcPr>
                </a:tc>
                <a:tc>
                  <a:txBody>
                    <a:bodyPr/>
                    <a:lstStyle/>
                    <a:p>
                      <a:pPr algn="ctr"/>
                      <a:r>
                        <a:rPr sz="1600" b="0">
                          <a:solidFill>
                            <a:srgbClr val="404040"/>
                          </a:solidFill>
                        </a:rPr>
                        <a:t>1</a:t>
                      </a:r>
                    </a:p>
                  </a:txBody>
                  <a:tcPr>
                    <a:solidFill>
                      <a:srgbClr val="FFFFFF"/>
                    </a:solidFill>
                  </a:tcPr>
                </a:tc>
                <a:tc>
                  <a:txBody>
                    <a:bodyPr/>
                    <a:lstStyle/>
                    <a:p>
                      <a:pPr algn="ctr"/>
                      <a:r>
                        <a:rPr sz="1600" b="0">
                          <a:solidFill>
                            <a:srgbClr val="404040"/>
                          </a:solidFill>
                        </a:rPr>
                        <a:t>1.5%</a:t>
                      </a:r>
                    </a:p>
                  </a:txBody>
                  <a:tcPr>
                    <a:solidFill>
                      <a:srgbClr val="FFFFFF"/>
                    </a:solidFill>
                  </a:tcPr>
                </a:tc>
                <a:extLst>
                  <a:ext uri="{0D108BD9-81ED-4DB2-BD59-A6C34878D82A}">
                    <a16:rowId xmlns:a16="http://schemas.microsoft.com/office/drawing/2014/main" val="10006"/>
                  </a:ext>
                </a:extLst>
              </a:tr>
            </a:tbl>
          </a:graphicData>
        </a:graphic>
      </p:graphicFrame>
      <p:graphicFrame>
        <p:nvGraphicFramePr>
          <p:cNvPr id="6" name="Chart 5"/>
          <p:cNvGraphicFramePr>
            <a:graphicFrameLocks noGrp="1"/>
          </p:cNvGraphicFramePr>
          <p:nvPr/>
        </p:nvGraphicFramePr>
        <p:xfrm>
          <a:off x="7772400" y="1828800"/>
          <a:ext cx="4114800" cy="41148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1600" b="1" i="0">
                <a:solidFill>
                  <a:srgbClr val="2E75B6"/>
                </a:solidFill>
              </a:rPr>
              <a:t>Comparison of Performance by Districts  |  Aug 31 - Sep 13, 2026</a:t>
            </a:r>
          </a:p>
        </p:txBody>
      </p:sp>
      <p:graphicFrame>
        <p:nvGraphicFramePr>
          <p:cNvPr id="5" name="Table 4"/>
          <p:cNvGraphicFramePr>
            <a:graphicFrameLocks noGrp="1"/>
          </p:cNvGraphicFramePr>
          <p:nvPr/>
        </p:nvGraphicFramePr>
        <p:xfrm>
          <a:off x="457200" y="1737360"/>
          <a:ext cx="11247120" cy="502920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65836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57200">
                <a:tc>
                  <a:txBody>
                    <a:bodyPr/>
                    <a:lstStyle/>
                    <a:p>
                      <a:pPr algn="ctr"/>
                      <a:r>
                        <a:rPr sz="1600" b="1">
                          <a:solidFill>
                            <a:srgbClr val="FFFFFF"/>
                          </a:solidFill>
                        </a:rPr>
                        <a:t>Rank</a:t>
                      </a:r>
                    </a:p>
                  </a:txBody>
                  <a:tcPr>
                    <a:solidFill>
                      <a:srgbClr val="1F497D"/>
                    </a:solidFill>
                  </a:tcPr>
                </a:tc>
                <a:tc>
                  <a:txBody>
                    <a:bodyPr/>
                    <a:lstStyle/>
                    <a:p>
                      <a:pPr algn="ctr"/>
                      <a:r>
                        <a:rPr sz="1600" b="1">
                          <a:solidFill>
                            <a:srgbClr val="FFFFFF"/>
                          </a:solidFill>
                        </a:rPr>
                        <a:t>District</a:t>
                      </a:r>
                    </a:p>
                  </a:txBody>
                  <a:tcPr>
                    <a:solidFill>
                      <a:srgbClr val="1F497D"/>
                    </a:solidFill>
                  </a:tcPr>
                </a:tc>
                <a:tc>
                  <a:txBody>
                    <a:bodyPr/>
                    <a:lstStyle/>
                    <a:p>
                      <a:pPr algn="ctr"/>
                      <a:r>
                        <a:rPr sz="1600" b="1">
                          <a:solidFill>
                            <a:srgbClr val="FFFFFF"/>
                          </a:solidFill>
                        </a:rPr>
                        <a:t>Cases</a:t>
                      </a:r>
                    </a:p>
                  </a:txBody>
                  <a:tcPr>
                    <a:solidFill>
                      <a:srgbClr val="1F497D"/>
                    </a:solidFill>
                  </a:tcPr>
                </a:tc>
                <a:tc>
                  <a:txBody>
                    <a:bodyPr/>
                    <a:lstStyle/>
                    <a:p>
                      <a:pPr algn="ctr"/>
                      <a:r>
                        <a:rPr sz="1600" b="1">
                          <a:solidFill>
                            <a:srgbClr val="FFFFFF"/>
                          </a:solidFill>
                        </a:rPr>
                        <a:t>Rep. Product (ID + Name)</a:t>
                      </a:r>
                    </a:p>
                  </a:txBody>
                  <a:tcPr>
                    <a:solidFill>
                      <a:srgbClr val="1F497D"/>
                    </a:solidFill>
                  </a:tcPr>
                </a:tc>
                <a:tc>
                  <a:txBody>
                    <a:bodyPr/>
                    <a:lstStyle/>
                    <a:p>
                      <a:pPr algn="ctr"/>
                      <a:r>
                        <a:rPr sz="1600" b="1">
                          <a:solidFill>
                            <a:srgbClr val="FFFFFF"/>
                          </a:solidFill>
                        </a:rPr>
                        <a:t>% of Log Team</a:t>
                      </a:r>
                    </a:p>
                  </a:txBody>
                  <a:tcPr>
                    <a:solidFill>
                      <a:srgbClr val="1F497D"/>
                    </a:solidFill>
                  </a:tcPr>
                </a:tc>
                <a:extLst>
                  <a:ext uri="{0D108BD9-81ED-4DB2-BD59-A6C34878D82A}">
                    <a16:rowId xmlns:a16="http://schemas.microsoft.com/office/drawing/2014/main" val="10000"/>
                  </a:ext>
                </a:extLst>
              </a:tr>
              <a:tr h="457200">
                <a:tc>
                  <a:txBody>
                    <a:bodyPr/>
                    <a:lstStyle/>
                    <a:p>
                      <a:pPr algn="ctr"/>
                      <a:r>
                        <a:rPr sz="1400" b="0">
                          <a:solidFill>
                            <a:srgbClr val="404040"/>
                          </a:solidFill>
                        </a:rPr>
                        <a:t>1</a:t>
                      </a:r>
                    </a:p>
                  </a:txBody>
                  <a:tcPr>
                    <a:solidFill>
                      <a:srgbClr val="F2F2F2"/>
                    </a:solidFill>
                  </a:tcPr>
                </a:tc>
                <a:tc>
                  <a:txBody>
                    <a:bodyPr/>
                    <a:lstStyle/>
                    <a:p>
                      <a:pPr algn="ctr"/>
                      <a:r>
                        <a:rPr sz="1400" b="1">
                          <a:solidFill>
                            <a:srgbClr val="404040"/>
                          </a:solidFill>
                        </a:rPr>
                        <a:t>ETX</a:t>
                      </a:r>
                    </a:p>
                  </a:txBody>
                  <a:tcPr>
                    <a:solidFill>
                      <a:srgbClr val="F2F2F2"/>
                    </a:solidFill>
                  </a:tcPr>
                </a:tc>
                <a:tc>
                  <a:txBody>
                    <a:bodyPr/>
                    <a:lstStyle/>
                    <a:p>
                      <a:pPr algn="ctr"/>
                      <a:r>
                        <a:rPr sz="1400" b="0">
                          <a:solidFill>
                            <a:srgbClr val="404040"/>
                          </a:solidFill>
                        </a:rPr>
                        <a:t>19</a:t>
                      </a:r>
                    </a:p>
                  </a:txBody>
                  <a:tcPr>
                    <a:solidFill>
                      <a:srgbClr val="F2F2F2"/>
                    </a:solidFill>
                  </a:tcPr>
                </a:tc>
                <a:tc>
                  <a:txBody>
                    <a:bodyPr/>
                    <a:lstStyle/>
                    <a:p>
                      <a:pPr algn="ctr"/>
                      <a:r>
                        <a:rPr sz="1400" b="0">
                          <a:solidFill>
                            <a:srgbClr val="404040"/>
                          </a:solidFill>
                        </a:rPr>
                        <a:t>H0888001_S_P10016911  |  頂上茉莉香米 #金象#金象牌#香米#米#煮食#煮飯#煲仔飯#...</a:t>
                      </a:r>
                    </a:p>
                  </a:txBody>
                  <a:tcPr>
                    <a:solidFill>
                      <a:srgbClr val="F2F2F2"/>
                    </a:solidFill>
                  </a:tcPr>
                </a:tc>
                <a:tc>
                  <a:txBody>
                    <a:bodyPr/>
                    <a:lstStyle/>
                    <a:p>
                      <a:pPr algn="ctr"/>
                      <a:r>
                        <a:rPr sz="1400" b="0">
                          <a:solidFill>
                            <a:srgbClr val="404040"/>
                          </a:solidFill>
                        </a:rPr>
                        <a:t>29.2%</a:t>
                      </a:r>
                    </a:p>
                  </a:txBody>
                  <a:tcPr>
                    <a:solidFill>
                      <a:srgbClr val="F2F2F2"/>
                    </a:solidFill>
                  </a:tcPr>
                </a:tc>
                <a:extLst>
                  <a:ext uri="{0D108BD9-81ED-4DB2-BD59-A6C34878D82A}">
                    <a16:rowId xmlns:a16="http://schemas.microsoft.com/office/drawing/2014/main" val="10001"/>
                  </a:ext>
                </a:extLst>
              </a:tr>
              <a:tr h="457200">
                <a:tc>
                  <a:txBody>
                    <a:bodyPr/>
                    <a:lstStyle/>
                    <a:p>
                      <a:pPr algn="ctr"/>
                      <a:r>
                        <a:rPr sz="1400" b="0">
                          <a:solidFill>
                            <a:srgbClr val="404040"/>
                          </a:solidFill>
                        </a:rPr>
                        <a:t>2</a:t>
                      </a:r>
                    </a:p>
                  </a:txBody>
                  <a:tcPr>
                    <a:solidFill>
                      <a:srgbClr val="FFFFFF"/>
                    </a:solidFill>
                  </a:tcPr>
                </a:tc>
                <a:tc>
                  <a:txBody>
                    <a:bodyPr/>
                    <a:lstStyle/>
                    <a:p>
                      <a:pPr algn="ctr"/>
                      <a:r>
                        <a:rPr sz="1400" b="1">
                          <a:solidFill>
                            <a:srgbClr val="404040"/>
                          </a:solidFill>
                        </a:rPr>
                        <a:t>NT-TW</a:t>
                      </a:r>
                    </a:p>
                  </a:txBody>
                  <a:tcPr>
                    <a:solidFill>
                      <a:srgbClr val="FFFFFF"/>
                    </a:solidFill>
                  </a:tcPr>
                </a:tc>
                <a:tc>
                  <a:txBody>
                    <a:bodyPr/>
                    <a:lstStyle/>
                    <a:p>
                      <a:pPr algn="ctr"/>
                      <a:r>
                        <a:rPr sz="1400" b="0">
                          <a:solidFill>
                            <a:srgbClr val="404040"/>
                          </a:solidFill>
                        </a:rPr>
                        <a:t>11</a:t>
                      </a:r>
                    </a:p>
                  </a:txBody>
                  <a:tcPr>
                    <a:solidFill>
                      <a:srgbClr val="FFFFFF"/>
                    </a:solidFill>
                  </a:tcPr>
                </a:tc>
                <a:tc>
                  <a:txBody>
                    <a:bodyPr/>
                    <a:lstStyle/>
                    <a:p>
                      <a:pPr algn="ctr"/>
                      <a:r>
                        <a:rPr sz="1400" b="0">
                          <a:solidFill>
                            <a:srgbClr val="404040"/>
                          </a:solidFill>
                        </a:rPr>
                        <a:t>H0888001_S_10134490  |  除霉噴劑 (新舊包裝隨機發送)</a:t>
                      </a:r>
                    </a:p>
                  </a:txBody>
                  <a:tcPr>
                    <a:solidFill>
                      <a:srgbClr val="FFFFFF"/>
                    </a:solidFill>
                  </a:tcPr>
                </a:tc>
                <a:tc>
                  <a:txBody>
                    <a:bodyPr/>
                    <a:lstStyle/>
                    <a:p>
                      <a:pPr algn="ctr"/>
                      <a:r>
                        <a:rPr sz="1400" b="0">
                          <a:solidFill>
                            <a:srgbClr val="404040"/>
                          </a:solidFill>
                        </a:rPr>
                        <a:t>16.9%</a:t>
                      </a:r>
                    </a:p>
                  </a:txBody>
                  <a:tcPr>
                    <a:solidFill>
                      <a:srgbClr val="FFFFFF"/>
                    </a:solidFill>
                  </a:tcPr>
                </a:tc>
                <a:extLst>
                  <a:ext uri="{0D108BD9-81ED-4DB2-BD59-A6C34878D82A}">
                    <a16:rowId xmlns:a16="http://schemas.microsoft.com/office/drawing/2014/main" val="10002"/>
                  </a:ext>
                </a:extLst>
              </a:tr>
              <a:tr h="457200">
                <a:tc>
                  <a:txBody>
                    <a:bodyPr/>
                    <a:lstStyle/>
                    <a:p>
                      <a:pPr algn="ctr"/>
                      <a:r>
                        <a:rPr sz="1400" b="0">
                          <a:solidFill>
                            <a:srgbClr val="404040"/>
                          </a:solidFill>
                        </a:rPr>
                        <a:t>3</a:t>
                      </a:r>
                    </a:p>
                  </a:txBody>
                  <a:tcPr>
                    <a:solidFill>
                      <a:srgbClr val="F2F2F2"/>
                    </a:solidFill>
                  </a:tcPr>
                </a:tc>
                <a:tc>
                  <a:txBody>
                    <a:bodyPr/>
                    <a:lstStyle/>
                    <a:p>
                      <a:pPr algn="ctr"/>
                      <a:r>
                        <a:rPr sz="1400" b="1">
                          <a:solidFill>
                            <a:srgbClr val="404040"/>
                          </a:solidFill>
                        </a:rPr>
                        <a:t>ETK</a:t>
                      </a:r>
                    </a:p>
                  </a:txBody>
                  <a:tcPr>
                    <a:solidFill>
                      <a:srgbClr val="F2F2F2"/>
                    </a:solidFill>
                  </a:tcPr>
                </a:tc>
                <a:tc>
                  <a:txBody>
                    <a:bodyPr/>
                    <a:lstStyle/>
                    <a:p>
                      <a:pPr algn="ctr"/>
                      <a:r>
                        <a:rPr sz="1400" b="0">
                          <a:solidFill>
                            <a:srgbClr val="404040"/>
                          </a:solidFill>
                        </a:rPr>
                        <a:t>9</a:t>
                      </a:r>
                    </a:p>
                  </a:txBody>
                  <a:tcPr>
                    <a:solidFill>
                      <a:srgbClr val="F2F2F2"/>
                    </a:solidFill>
                  </a:tcPr>
                </a:tc>
                <a:tc>
                  <a:txBody>
                    <a:bodyPr/>
                    <a:lstStyle/>
                    <a:p>
                      <a:pPr algn="ctr"/>
                      <a:r>
                        <a:rPr sz="1400" b="0">
                          <a:solidFill>
                            <a:srgbClr val="404040"/>
                          </a:solidFill>
                        </a:rPr>
                        <a:t>H0888001_S_P10016911  |  頂上茉莉香米 #金象#金象牌#香米#米#煮食#煮飯#煲仔飯#...</a:t>
                      </a:r>
                    </a:p>
                  </a:txBody>
                  <a:tcPr>
                    <a:solidFill>
                      <a:srgbClr val="F2F2F2"/>
                    </a:solidFill>
                  </a:tcPr>
                </a:tc>
                <a:tc>
                  <a:txBody>
                    <a:bodyPr/>
                    <a:lstStyle/>
                    <a:p>
                      <a:pPr algn="ctr"/>
                      <a:r>
                        <a:rPr sz="1400" b="0">
                          <a:solidFill>
                            <a:srgbClr val="404040"/>
                          </a:solidFill>
                        </a:rPr>
                        <a:t>13.8%</a:t>
                      </a:r>
                    </a:p>
                  </a:txBody>
                  <a:tcPr>
                    <a:solidFill>
                      <a:srgbClr val="F2F2F2"/>
                    </a:solidFill>
                  </a:tcPr>
                </a:tc>
                <a:extLst>
                  <a:ext uri="{0D108BD9-81ED-4DB2-BD59-A6C34878D82A}">
                    <a16:rowId xmlns:a16="http://schemas.microsoft.com/office/drawing/2014/main" val="10003"/>
                  </a:ext>
                </a:extLst>
              </a:tr>
              <a:tr h="457200">
                <a:tc>
                  <a:txBody>
                    <a:bodyPr/>
                    <a:lstStyle/>
                    <a:p>
                      <a:pPr algn="ctr"/>
                      <a:r>
                        <a:rPr sz="1400" b="0">
                          <a:solidFill>
                            <a:srgbClr val="404040"/>
                          </a:solidFill>
                        </a:rPr>
                        <a:t>4</a:t>
                      </a:r>
                    </a:p>
                  </a:txBody>
                  <a:tcPr>
                    <a:solidFill>
                      <a:srgbClr val="FFFFFF"/>
                    </a:solidFill>
                  </a:tcPr>
                </a:tc>
                <a:tc>
                  <a:txBody>
                    <a:bodyPr/>
                    <a:lstStyle/>
                    <a:p>
                      <a:pPr algn="ctr"/>
                      <a:r>
                        <a:rPr sz="1400" b="1">
                          <a:solidFill>
                            <a:srgbClr val="404040"/>
                          </a:solidFill>
                        </a:rPr>
                        <a:t>ETH</a:t>
                      </a:r>
                    </a:p>
                  </a:txBody>
                  <a:tcPr>
                    <a:solidFill>
                      <a:srgbClr val="FFFFFF"/>
                    </a:solidFill>
                  </a:tcPr>
                </a:tc>
                <a:tc>
                  <a:txBody>
                    <a:bodyPr/>
                    <a:lstStyle/>
                    <a:p>
                      <a:pPr algn="ctr"/>
                      <a:r>
                        <a:rPr sz="1400" b="0">
                          <a:solidFill>
                            <a:srgbClr val="404040"/>
                          </a:solidFill>
                        </a:rPr>
                        <a:t>7</a:t>
                      </a:r>
                    </a:p>
                  </a:txBody>
                  <a:tcPr>
                    <a:solidFill>
                      <a:srgbClr val="FFFFFF"/>
                    </a:solidFill>
                  </a:tcPr>
                </a:tc>
                <a:tc>
                  <a:txBody>
                    <a:bodyPr/>
                    <a:lstStyle/>
                    <a:p>
                      <a:pPr algn="ctr"/>
                      <a:r>
                        <a:rPr sz="1400" b="0">
                          <a:solidFill>
                            <a:srgbClr val="404040"/>
                          </a:solidFill>
                        </a:rPr>
                        <a:t>H0888001_S_P10020854  |  [原箱] 屈臣氏蒸餾水 800ml X 24 (新舊包裝隨機...</a:t>
                      </a:r>
                    </a:p>
                  </a:txBody>
                  <a:tcPr>
                    <a:solidFill>
                      <a:srgbClr val="FFFFFF"/>
                    </a:solidFill>
                  </a:tcPr>
                </a:tc>
                <a:tc>
                  <a:txBody>
                    <a:bodyPr/>
                    <a:lstStyle/>
                    <a:p>
                      <a:pPr algn="ctr"/>
                      <a:r>
                        <a:rPr sz="1400" b="0">
                          <a:solidFill>
                            <a:srgbClr val="404040"/>
                          </a:solidFill>
                        </a:rPr>
                        <a:t>10.8%</a:t>
                      </a:r>
                    </a:p>
                  </a:txBody>
                  <a:tcPr>
                    <a:solidFill>
                      <a:srgbClr val="FFFFFF"/>
                    </a:solidFill>
                  </a:tcPr>
                </a:tc>
                <a:extLst>
                  <a:ext uri="{0D108BD9-81ED-4DB2-BD59-A6C34878D82A}">
                    <a16:rowId xmlns:a16="http://schemas.microsoft.com/office/drawing/2014/main" val="10004"/>
                  </a:ext>
                </a:extLst>
              </a:tr>
              <a:tr h="457200">
                <a:tc>
                  <a:txBody>
                    <a:bodyPr/>
                    <a:lstStyle/>
                    <a:p>
                      <a:pPr algn="ctr"/>
                      <a:r>
                        <a:rPr sz="1400" b="0">
                          <a:solidFill>
                            <a:srgbClr val="404040"/>
                          </a:solidFill>
                        </a:rPr>
                        <a:t>5</a:t>
                      </a:r>
                    </a:p>
                  </a:txBody>
                  <a:tcPr>
                    <a:solidFill>
                      <a:srgbClr val="F2F2F2"/>
                    </a:solidFill>
                  </a:tcPr>
                </a:tc>
                <a:tc>
                  <a:txBody>
                    <a:bodyPr/>
                    <a:lstStyle/>
                    <a:p>
                      <a:pPr algn="ctr"/>
                      <a:r>
                        <a:rPr sz="1400" b="1">
                          <a:solidFill>
                            <a:srgbClr val="404040"/>
                          </a:solidFill>
                        </a:rPr>
                        <a:t>WTK</a:t>
                      </a:r>
                    </a:p>
                  </a:txBody>
                  <a:tcPr>
                    <a:solidFill>
                      <a:srgbClr val="F2F2F2"/>
                    </a:solidFill>
                  </a:tcPr>
                </a:tc>
                <a:tc>
                  <a:txBody>
                    <a:bodyPr/>
                    <a:lstStyle/>
                    <a:p>
                      <a:pPr algn="ctr"/>
                      <a:r>
                        <a:rPr sz="1400" b="0">
                          <a:solidFill>
                            <a:srgbClr val="404040"/>
                          </a:solidFill>
                        </a:rPr>
                        <a:t>6</a:t>
                      </a:r>
                    </a:p>
                  </a:txBody>
                  <a:tcPr>
                    <a:solidFill>
                      <a:srgbClr val="F2F2F2"/>
                    </a:solidFill>
                  </a:tcPr>
                </a:tc>
                <a:tc>
                  <a:txBody>
                    <a:bodyPr/>
                    <a:lstStyle/>
                    <a:p>
                      <a:pPr algn="ctr"/>
                      <a:r>
                        <a:rPr sz="1400" b="0">
                          <a:solidFill>
                            <a:srgbClr val="404040"/>
                          </a:solidFill>
                        </a:rPr>
                        <a:t>H0888001_S_10020138  |  [官方供應] 亨氏清雞湯 #上等嫩雞 #不含人造色素和防腐劑 ...</a:t>
                      </a:r>
                    </a:p>
                  </a:txBody>
                  <a:tcPr>
                    <a:solidFill>
                      <a:srgbClr val="F2F2F2"/>
                    </a:solidFill>
                  </a:tcPr>
                </a:tc>
                <a:tc>
                  <a:txBody>
                    <a:bodyPr/>
                    <a:lstStyle/>
                    <a:p>
                      <a:pPr algn="ctr"/>
                      <a:r>
                        <a:rPr sz="1400" b="0">
                          <a:solidFill>
                            <a:srgbClr val="404040"/>
                          </a:solidFill>
                        </a:rPr>
                        <a:t>9.2%</a:t>
                      </a:r>
                    </a:p>
                  </a:txBody>
                  <a:tcPr>
                    <a:solidFill>
                      <a:srgbClr val="F2F2F2"/>
                    </a:solidFill>
                  </a:tcPr>
                </a:tc>
                <a:extLst>
                  <a:ext uri="{0D108BD9-81ED-4DB2-BD59-A6C34878D82A}">
                    <a16:rowId xmlns:a16="http://schemas.microsoft.com/office/drawing/2014/main" val="10005"/>
                  </a:ext>
                </a:extLst>
              </a:tr>
              <a:tr h="457200">
                <a:tc>
                  <a:txBody>
                    <a:bodyPr/>
                    <a:lstStyle/>
                    <a:p>
                      <a:pPr algn="ctr"/>
                      <a:r>
                        <a:rPr sz="1400" b="0">
                          <a:solidFill>
                            <a:srgbClr val="404040"/>
                          </a:solidFill>
                        </a:rPr>
                        <a:t>6</a:t>
                      </a:r>
                    </a:p>
                  </a:txBody>
                  <a:tcPr>
                    <a:solidFill>
                      <a:srgbClr val="FFFFFF"/>
                    </a:solidFill>
                  </a:tcPr>
                </a:tc>
                <a:tc>
                  <a:txBody>
                    <a:bodyPr/>
                    <a:lstStyle/>
                    <a:p>
                      <a:pPr algn="ctr"/>
                      <a:r>
                        <a:rPr sz="1400" b="1">
                          <a:solidFill>
                            <a:srgbClr val="404040"/>
                          </a:solidFill>
                        </a:rPr>
                        <a:t>NT-TSM</a:t>
                      </a:r>
                    </a:p>
                  </a:txBody>
                  <a:tcPr>
                    <a:solidFill>
                      <a:srgbClr val="FFFFFF"/>
                    </a:solidFill>
                  </a:tcPr>
                </a:tc>
                <a:tc>
                  <a:txBody>
                    <a:bodyPr/>
                    <a:lstStyle/>
                    <a:p>
                      <a:pPr algn="ctr"/>
                      <a:r>
                        <a:rPr sz="1400" b="0">
                          <a:solidFill>
                            <a:srgbClr val="404040"/>
                          </a:solidFill>
                        </a:rPr>
                        <a:t>5</a:t>
                      </a:r>
                    </a:p>
                  </a:txBody>
                  <a:tcPr>
                    <a:solidFill>
                      <a:srgbClr val="FFFFFF"/>
                    </a:solidFill>
                  </a:tcPr>
                </a:tc>
                <a:tc>
                  <a:txBody>
                    <a:bodyPr/>
                    <a:lstStyle/>
                    <a:p>
                      <a:pPr algn="ctr"/>
                      <a:r>
                        <a:rPr sz="1400" b="0">
                          <a:solidFill>
                            <a:srgbClr val="404040"/>
                          </a:solidFill>
                        </a:rPr>
                        <a:t>H0888001_S_10136268A  |  玉泉梳打水330ml x 8罐裝 x 2 (新舊包裝隨機發送...</a:t>
                      </a:r>
                    </a:p>
                  </a:txBody>
                  <a:tcPr>
                    <a:solidFill>
                      <a:srgbClr val="FFFFFF"/>
                    </a:solidFill>
                  </a:tcPr>
                </a:tc>
                <a:tc>
                  <a:txBody>
                    <a:bodyPr/>
                    <a:lstStyle/>
                    <a:p>
                      <a:pPr algn="ctr"/>
                      <a:r>
                        <a:rPr sz="1400" b="0">
                          <a:solidFill>
                            <a:srgbClr val="404040"/>
                          </a:solidFill>
                        </a:rPr>
                        <a:t>7.7%</a:t>
                      </a:r>
                    </a:p>
                  </a:txBody>
                  <a:tcPr>
                    <a:solidFill>
                      <a:srgbClr val="FFFFFF"/>
                    </a:solidFill>
                  </a:tcPr>
                </a:tc>
                <a:extLst>
                  <a:ext uri="{0D108BD9-81ED-4DB2-BD59-A6C34878D82A}">
                    <a16:rowId xmlns:a16="http://schemas.microsoft.com/office/drawing/2014/main" val="10006"/>
                  </a:ext>
                </a:extLst>
              </a:tr>
              <a:tr h="457200">
                <a:tc>
                  <a:txBody>
                    <a:bodyPr/>
                    <a:lstStyle/>
                    <a:p>
                      <a:pPr algn="ctr"/>
                      <a:r>
                        <a:rPr sz="1400" b="0">
                          <a:solidFill>
                            <a:srgbClr val="404040"/>
                          </a:solidFill>
                        </a:rPr>
                        <a:t>7</a:t>
                      </a:r>
                    </a:p>
                  </a:txBody>
                  <a:tcPr>
                    <a:solidFill>
                      <a:srgbClr val="F2F2F2"/>
                    </a:solidFill>
                  </a:tcPr>
                </a:tc>
                <a:tc>
                  <a:txBody>
                    <a:bodyPr/>
                    <a:lstStyle/>
                    <a:p>
                      <a:pPr algn="ctr"/>
                      <a:r>
                        <a:rPr sz="1400" b="1">
                          <a:solidFill>
                            <a:srgbClr val="404040"/>
                          </a:solidFill>
                        </a:rPr>
                        <a:t>NT-ST</a:t>
                      </a:r>
                    </a:p>
                  </a:txBody>
                  <a:tcPr>
                    <a:solidFill>
                      <a:srgbClr val="F2F2F2"/>
                    </a:solidFill>
                  </a:tcPr>
                </a:tc>
                <a:tc>
                  <a:txBody>
                    <a:bodyPr/>
                    <a:lstStyle/>
                    <a:p>
                      <a:pPr algn="ctr"/>
                      <a:r>
                        <a:rPr sz="1400" b="0">
                          <a:solidFill>
                            <a:srgbClr val="404040"/>
                          </a:solidFill>
                        </a:rPr>
                        <a:t>3</a:t>
                      </a:r>
                    </a:p>
                  </a:txBody>
                  <a:tcPr>
                    <a:solidFill>
                      <a:srgbClr val="F2F2F2"/>
                    </a:solidFill>
                  </a:tcPr>
                </a:tc>
                <a:tc>
                  <a:txBody>
                    <a:bodyPr/>
                    <a:lstStyle/>
                    <a:p>
                      <a:pPr algn="ctr"/>
                      <a:r>
                        <a:rPr sz="1400" b="0">
                          <a:solidFill>
                            <a:srgbClr val="404040"/>
                          </a:solidFill>
                        </a:rPr>
                        <a:t>H0888001_S_P10016911  |  頂上茉莉香米 #金象#金象牌#香米#米#煮食#煮飯#煲仔飯#...</a:t>
                      </a:r>
                    </a:p>
                  </a:txBody>
                  <a:tcPr>
                    <a:solidFill>
                      <a:srgbClr val="F2F2F2"/>
                    </a:solidFill>
                  </a:tcPr>
                </a:tc>
                <a:tc>
                  <a:txBody>
                    <a:bodyPr/>
                    <a:lstStyle/>
                    <a:p>
                      <a:pPr algn="ctr"/>
                      <a:r>
                        <a:rPr sz="1400" b="0">
                          <a:solidFill>
                            <a:srgbClr val="404040"/>
                          </a:solidFill>
                        </a:rPr>
                        <a:t>4.6%</a:t>
                      </a:r>
                    </a:p>
                  </a:txBody>
                  <a:tcPr>
                    <a:solidFill>
                      <a:srgbClr val="F2F2F2"/>
                    </a:solidFill>
                  </a:tcPr>
                </a:tc>
                <a:extLst>
                  <a:ext uri="{0D108BD9-81ED-4DB2-BD59-A6C34878D82A}">
                    <a16:rowId xmlns:a16="http://schemas.microsoft.com/office/drawing/2014/main" val="10007"/>
                  </a:ext>
                </a:extLst>
              </a:tr>
              <a:tr h="457200">
                <a:tc>
                  <a:txBody>
                    <a:bodyPr/>
                    <a:lstStyle/>
                    <a:p>
                      <a:pPr algn="ctr"/>
                      <a:r>
                        <a:rPr sz="1400" b="0">
                          <a:solidFill>
                            <a:srgbClr val="404040"/>
                          </a:solidFill>
                        </a:rPr>
                        <a:t>8</a:t>
                      </a:r>
                    </a:p>
                  </a:txBody>
                  <a:tcPr>
                    <a:solidFill>
                      <a:srgbClr val="FFFFFF"/>
                    </a:solidFill>
                  </a:tcPr>
                </a:tc>
                <a:tc>
                  <a:txBody>
                    <a:bodyPr/>
                    <a:lstStyle/>
                    <a:p>
                      <a:pPr algn="ctr"/>
                      <a:r>
                        <a:rPr sz="1400" b="1">
                          <a:solidFill>
                            <a:srgbClr val="404040"/>
                          </a:solidFill>
                        </a:rPr>
                        <a:t>WTH</a:t>
                      </a:r>
                    </a:p>
                  </a:txBody>
                  <a:tcPr>
                    <a:solidFill>
                      <a:srgbClr val="FFFFFF"/>
                    </a:solidFill>
                  </a:tcPr>
                </a:tc>
                <a:tc>
                  <a:txBody>
                    <a:bodyPr/>
                    <a:lstStyle/>
                    <a:p>
                      <a:pPr algn="ctr"/>
                      <a:r>
                        <a:rPr sz="1400" b="0">
                          <a:solidFill>
                            <a:srgbClr val="404040"/>
                          </a:solidFill>
                        </a:rPr>
                        <a:t>2</a:t>
                      </a:r>
                    </a:p>
                  </a:txBody>
                  <a:tcPr>
                    <a:solidFill>
                      <a:srgbClr val="FFFFFF"/>
                    </a:solidFill>
                  </a:tcPr>
                </a:tc>
                <a:tc>
                  <a:txBody>
                    <a:bodyPr/>
                    <a:lstStyle/>
                    <a:p>
                      <a:pPr algn="ctr"/>
                      <a:r>
                        <a:rPr sz="1400" b="0">
                          <a:solidFill>
                            <a:srgbClr val="404040"/>
                          </a:solidFill>
                        </a:rPr>
                        <a:t>H0888001_S_10016316  |  可口可樂無糖汽水 [罐裝] 330ml x 12 (新舊包裝隨...</a:t>
                      </a:r>
                    </a:p>
                  </a:txBody>
                  <a:tcPr>
                    <a:solidFill>
                      <a:srgbClr val="FFFFFF"/>
                    </a:solidFill>
                  </a:tcPr>
                </a:tc>
                <a:tc>
                  <a:txBody>
                    <a:bodyPr/>
                    <a:lstStyle/>
                    <a:p>
                      <a:pPr algn="ctr"/>
                      <a:r>
                        <a:rPr sz="1400" b="0">
                          <a:solidFill>
                            <a:srgbClr val="404040"/>
                          </a:solidFill>
                        </a:rPr>
                        <a:t>3.1%</a:t>
                      </a:r>
                    </a:p>
                  </a:txBody>
                  <a:tcPr>
                    <a:solidFill>
                      <a:srgbClr val="FFFFFF"/>
                    </a:solidFill>
                  </a:tcPr>
                </a:tc>
                <a:extLst>
                  <a:ext uri="{0D108BD9-81ED-4DB2-BD59-A6C34878D82A}">
                    <a16:rowId xmlns:a16="http://schemas.microsoft.com/office/drawing/2014/main" val="10008"/>
                  </a:ext>
                </a:extLst>
              </a:tr>
              <a:tr h="457200">
                <a:tc>
                  <a:txBody>
                    <a:bodyPr/>
                    <a:lstStyle/>
                    <a:p>
                      <a:pPr algn="ctr"/>
                      <a:r>
                        <a:rPr sz="1400" b="0">
                          <a:solidFill>
                            <a:srgbClr val="404040"/>
                          </a:solidFill>
                        </a:rPr>
                        <a:t>9</a:t>
                      </a:r>
                    </a:p>
                  </a:txBody>
                  <a:tcPr>
                    <a:solidFill>
                      <a:srgbClr val="F2F2F2"/>
                    </a:solidFill>
                  </a:tcPr>
                </a:tc>
                <a:tc>
                  <a:txBody>
                    <a:bodyPr/>
                    <a:lstStyle/>
                    <a:p>
                      <a:pPr algn="ctr"/>
                      <a:r>
                        <a:rPr sz="1400" b="1">
                          <a:solidFill>
                            <a:srgbClr val="404040"/>
                          </a:solidFill>
                        </a:rPr>
                        <a:t>WTX</a:t>
                      </a:r>
                    </a:p>
                  </a:txBody>
                  <a:tcPr>
                    <a:solidFill>
                      <a:srgbClr val="F2F2F2"/>
                    </a:solidFill>
                  </a:tcPr>
                </a:tc>
                <a:tc>
                  <a:txBody>
                    <a:bodyPr/>
                    <a:lstStyle/>
                    <a:p>
                      <a:pPr algn="ctr"/>
                      <a:r>
                        <a:rPr sz="1400" b="0">
                          <a:solidFill>
                            <a:srgbClr val="404040"/>
                          </a:solidFill>
                        </a:rPr>
                        <a:t>2</a:t>
                      </a:r>
                    </a:p>
                  </a:txBody>
                  <a:tcPr>
                    <a:solidFill>
                      <a:srgbClr val="F2F2F2"/>
                    </a:solidFill>
                  </a:tcPr>
                </a:tc>
                <a:tc>
                  <a:txBody>
                    <a:bodyPr/>
                    <a:lstStyle/>
                    <a:p>
                      <a:pPr algn="ctr"/>
                      <a:r>
                        <a:rPr sz="1400" b="0">
                          <a:solidFill>
                            <a:srgbClr val="404040"/>
                          </a:solidFill>
                        </a:rPr>
                        <a:t>H0389001_S_4891203504428  |  3M 護齒牙縫刷 - L型 SSSS碼 新包裝</a:t>
                      </a:r>
                    </a:p>
                  </a:txBody>
                  <a:tcPr>
                    <a:solidFill>
                      <a:srgbClr val="F2F2F2"/>
                    </a:solidFill>
                  </a:tcPr>
                </a:tc>
                <a:tc>
                  <a:txBody>
                    <a:bodyPr/>
                    <a:lstStyle/>
                    <a:p>
                      <a:pPr algn="ctr"/>
                      <a:r>
                        <a:rPr sz="1400" b="0">
                          <a:solidFill>
                            <a:srgbClr val="404040"/>
                          </a:solidFill>
                        </a:rPr>
                        <a:t>3.1%</a:t>
                      </a:r>
                    </a:p>
                  </a:txBody>
                  <a:tcPr>
                    <a:solidFill>
                      <a:srgbClr val="F2F2F2"/>
                    </a:solidFill>
                  </a:tcPr>
                </a:tc>
                <a:extLst>
                  <a:ext uri="{0D108BD9-81ED-4DB2-BD59-A6C34878D82A}">
                    <a16:rowId xmlns:a16="http://schemas.microsoft.com/office/drawing/2014/main" val="10009"/>
                  </a:ext>
                </a:extLst>
              </a:tr>
              <a:tr h="457200">
                <a:tc>
                  <a:txBody>
                    <a:bodyPr/>
                    <a:lstStyle/>
                    <a:p>
                      <a:pPr algn="ctr"/>
                      <a:r>
                        <a:rPr sz="1400" b="0">
                          <a:solidFill>
                            <a:srgbClr val="404040"/>
                          </a:solidFill>
                        </a:rPr>
                        <a:t>10</a:t>
                      </a:r>
                    </a:p>
                  </a:txBody>
                  <a:tcPr>
                    <a:solidFill>
                      <a:srgbClr val="FFFFFF"/>
                    </a:solidFill>
                  </a:tcPr>
                </a:tc>
                <a:tc>
                  <a:txBody>
                    <a:bodyPr/>
                    <a:lstStyle/>
                    <a:p>
                      <a:pPr algn="ctr"/>
                      <a:r>
                        <a:rPr sz="1400" b="1">
                          <a:solidFill>
                            <a:srgbClr val="404040"/>
                          </a:solidFill>
                        </a:rPr>
                        <a:t>NT-TM</a:t>
                      </a:r>
                    </a:p>
                  </a:txBody>
                  <a:tcPr>
                    <a:solidFill>
                      <a:srgbClr val="FFFFFF"/>
                    </a:solidFill>
                  </a:tcPr>
                </a:tc>
                <a:tc>
                  <a:txBody>
                    <a:bodyPr/>
                    <a:lstStyle/>
                    <a:p>
                      <a:pPr algn="ctr"/>
                      <a:r>
                        <a:rPr sz="1400" b="0">
                          <a:solidFill>
                            <a:srgbClr val="404040"/>
                          </a:solidFill>
                        </a:rPr>
                        <a:t>1</a:t>
                      </a:r>
                    </a:p>
                  </a:txBody>
                  <a:tcPr>
                    <a:solidFill>
                      <a:srgbClr val="FFFFFF"/>
                    </a:solidFill>
                  </a:tcPr>
                </a:tc>
                <a:tc>
                  <a:txBody>
                    <a:bodyPr/>
                    <a:lstStyle/>
                    <a:p>
                      <a:pPr algn="ctr"/>
                      <a:r>
                        <a:rPr sz="1400" b="0">
                          <a:solidFill>
                            <a:srgbClr val="404040"/>
                          </a:solidFill>
                        </a:rPr>
                        <a:t>H7659002_S_OMFF0008  |  紅衫魚 (已去內臟 2-4條裝) 400g (急凍-18°C)...</a:t>
                      </a:r>
                    </a:p>
                  </a:txBody>
                  <a:tcPr>
                    <a:solidFill>
                      <a:srgbClr val="FFFFFF"/>
                    </a:solidFill>
                  </a:tcPr>
                </a:tc>
                <a:tc>
                  <a:txBody>
                    <a:bodyPr/>
                    <a:lstStyle/>
                    <a:p>
                      <a:pPr algn="ctr"/>
                      <a:r>
                        <a:rPr sz="1400" b="0">
                          <a:solidFill>
                            <a:srgbClr val="404040"/>
                          </a:solidFill>
                        </a:rPr>
                        <a:t>1.5%</a:t>
                      </a:r>
                    </a:p>
                  </a:txBody>
                  <a:tcPr>
                    <a:solidFill>
                      <a:srgbClr val="FFFFFF"/>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457200" y="6858000"/>
            <a:ext cx="9144000" cy="365760"/>
          </a:xfrm>
          <a:prstGeom prst="rect">
            <a:avLst/>
          </a:prstGeom>
          <a:noFill/>
        </p:spPr>
        <p:txBody>
          <a:bodyPr wrap="square">
            <a:spAutoFit/>
          </a:bodyPr>
          <a:lstStyle/>
          <a:p>
            <a:pPr algn="l"/>
            <a:r>
              <a:rPr sz="900" b="0" i="0">
                <a:solidFill>
                  <a:srgbClr val="008000"/>
                </a:solidFill>
              </a:rPr>
              <a:t>Total Log Team Cases: 65  |  Sum%: 99.9%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包裝問題  (25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H0888001_S_P10020854  |  [原箱] 屈臣氏蒸餾水 800ml X 24 (新舊包裝隨機發送)</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ETH</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將軍澳倉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Warehouse貨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H260830506534  |  Waybill: 8155303574-1</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天雨關係, 貨物紙皮濕左變軟變爛非人為可控制原因, 內容物未有受損回倉更換紙箱亦是最環保及符合成本的方法</a:t>
            </a:r>
          </a:p>
        </p:txBody>
      </p:sp>
      <p:sp>
        <p:nvSpPr>
          <p:cNvPr id="11" name="TextBox 10"/>
          <p:cNvSpPr txBox="1"/>
          <p:nvPr/>
        </p:nvSpPr>
        <p:spPr>
          <a:xfrm>
            <a:off x="457200" y="3749039"/>
            <a:ext cx="5486400" cy="2743200"/>
          </a:xfrm>
          <a:prstGeom prst="rect">
            <a:avLst/>
          </a:prstGeom>
          <a:noFill/>
        </p:spPr>
        <p:txBody>
          <a:bodyPr wrap="square">
            <a:spAutoFit/>
          </a:bodyPr>
          <a:lstStyle/>
          <a:p>
            <a:pPr algn="l"/>
            <a:r>
              <a:rPr sz="1600">
                <a:solidFill>
                  <a:srgbClr val="404040"/>
                </a:solidFill>
              </a:rPr>
              <a:t>送貨員成箱掉落地，爛哂，5箱水有2箱都爛哂，全部水跌哂出黎，仲話唔要收返去都係貼返好個箱再送返比我，甘都得</a:t>
            </a:r>
          </a:p>
        </p:txBody>
      </p:sp>
      <p:pic>
        <p:nvPicPr>
          <p:cNvPr id="12" name="Picture 11" descr="case_img_包裝問題_0.jpg"/>
          <p:cNvPicPr>
            <a:picLocks noChangeAspect="1"/>
          </p:cNvPicPr>
          <p:nvPr/>
        </p:nvPicPr>
        <p:blipFill>
          <a:blip r:embed="rId2"/>
          <a:stretch>
            <a:fillRect/>
          </a:stretch>
        </p:blipFill>
        <p:spPr>
          <a:xfrm>
            <a:off x="6217920" y="1691640"/>
            <a:ext cx="5486400" cy="4389120"/>
          </a:xfrm>
          <a:prstGeom prst="rect">
            <a:avLst/>
          </a:prstGeom>
        </p:spPr>
      </p:pic>
      <p:sp>
        <p:nvSpPr>
          <p:cNvPr id="13" name="TextBox 12"/>
          <p:cNvSpPr txBox="1"/>
          <p:nvPr/>
        </p:nvSpPr>
        <p:spPr>
          <a:xfrm>
            <a:off x="10972800" y="6400800"/>
            <a:ext cx="914400" cy="274320"/>
          </a:xfrm>
          <a:prstGeom prst="rect">
            <a:avLst/>
          </a:prstGeom>
          <a:noFill/>
        </p:spPr>
        <p:txBody>
          <a:bodyPr wrap="square">
            <a:spAutoFit/>
          </a:bodyPr>
          <a:lstStyle/>
          <a:p>
            <a:pPr algn="l"/>
            <a:r>
              <a:rPr sz="900" b="0" i="0">
                <a:solidFill>
                  <a:srgbClr val="404040"/>
                </a:solidFill>
              </a:rPr>
              <a:t>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包裝問題  (25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H0888001_S_P10020854  |  [原箱] 屈臣氏蒸餾水 800ml X 24 (新舊包裝隨機發送)</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ETK</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將軍澳倉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Warehouse貨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H260902513252  |  Waybill: 8161282559-2</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[原箱] 屈臣氏蒸餾水該款包裝箱為再做紙, 比較軟身及易爛</a:t>
            </a:r>
          </a:p>
        </p:txBody>
      </p:sp>
      <p:sp>
        <p:nvSpPr>
          <p:cNvPr id="11" name="TextBox 10"/>
          <p:cNvSpPr txBox="1"/>
          <p:nvPr/>
        </p:nvSpPr>
        <p:spPr>
          <a:xfrm>
            <a:off x="457200" y="3749039"/>
            <a:ext cx="5486400" cy="2743200"/>
          </a:xfrm>
          <a:prstGeom prst="rect">
            <a:avLst/>
          </a:prstGeom>
          <a:noFill/>
        </p:spPr>
        <p:txBody>
          <a:bodyPr wrap="square">
            <a:spAutoFit/>
          </a:bodyPr>
          <a:lstStyle/>
          <a:p>
            <a:pPr algn="l"/>
            <a:r>
              <a:rPr sz="1600">
                <a:solidFill>
                  <a:srgbClr val="404040"/>
                </a:solidFill>
              </a:rPr>
              <a:t>每次包裝盒總是損壞。</a:t>
            </a:r>
          </a:p>
        </p:txBody>
      </p:sp>
      <p:sp>
        <p:nvSpPr>
          <p:cNvPr id="12" name="TextBox 11"/>
          <p:cNvSpPr txBox="1"/>
          <p:nvPr/>
        </p:nvSpPr>
        <p:spPr>
          <a:xfrm>
            <a:off x="6217920" y="1691640"/>
            <a:ext cx="5486400" cy="457200"/>
          </a:xfrm>
          <a:prstGeom prst="rect">
            <a:avLst/>
          </a:prstGeom>
          <a:noFill/>
        </p:spPr>
        <p:txBody>
          <a:bodyPr wrap="square">
            <a:spAutoFit/>
          </a:bodyPr>
          <a:lstStyle/>
          <a:p>
            <a:pPr algn="l"/>
            <a:r>
              <a:rPr sz="1600" b="0" i="0">
                <a:solidFill>
                  <a:srgbClr val="999999"/>
                </a:solidFill>
              </a:rPr>
              <a:t>[No valid photo link]</a:t>
            </a:r>
          </a:p>
        </p:txBody>
      </p:sp>
      <p:sp>
        <p:nvSpPr>
          <p:cNvPr id="13" name="TextBox 12"/>
          <p:cNvSpPr txBox="1"/>
          <p:nvPr/>
        </p:nvSpPr>
        <p:spPr>
          <a:xfrm>
            <a:off x="10972800" y="6400800"/>
            <a:ext cx="914400" cy="274320"/>
          </a:xfrm>
          <a:prstGeom prst="rect">
            <a:avLst/>
          </a:prstGeom>
          <a:noFill/>
        </p:spPr>
        <p:txBody>
          <a:bodyPr wrap="square">
            <a:spAutoFit/>
          </a:bodyPr>
          <a:lstStyle/>
          <a:p>
            <a:pPr algn="l"/>
            <a:r>
              <a:rPr sz="900" b="0" i="0">
                <a:solidFill>
                  <a:srgbClr val="404040"/>
                </a:solidFill>
              </a:rPr>
              <a:t>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其他  (22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H0888001_S_10134752  |  純牛奶</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ETX</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觀塘倉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Warehouse貨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H260902530027  |  Waybill: 8161998605-2</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品質問題</a:t>
            </a:r>
          </a:p>
        </p:txBody>
      </p:sp>
      <p:sp>
        <p:nvSpPr>
          <p:cNvPr id="11" name="TextBox 10"/>
          <p:cNvSpPr txBox="1"/>
          <p:nvPr/>
        </p:nvSpPr>
        <p:spPr>
          <a:xfrm>
            <a:off x="457200" y="3749039"/>
            <a:ext cx="5486400" cy="2743200"/>
          </a:xfrm>
          <a:prstGeom prst="rect">
            <a:avLst/>
          </a:prstGeom>
          <a:noFill/>
        </p:spPr>
        <p:txBody>
          <a:bodyPr wrap="square">
            <a:spAutoFit/>
          </a:bodyPr>
          <a:lstStyle/>
          <a:p>
            <a:pPr algn="l"/>
            <a:r>
              <a:rPr sz="1600">
                <a:solidFill>
                  <a:srgbClr val="404040"/>
                </a:solidFill>
              </a:rPr>
              <a:t>買咗6包，飲第2包時，樽奶係酸嘅</a:t>
            </a:r>
          </a:p>
        </p:txBody>
      </p:sp>
      <p:sp>
        <p:nvSpPr>
          <p:cNvPr id="12" name="TextBox 11"/>
          <p:cNvSpPr txBox="1"/>
          <p:nvPr/>
        </p:nvSpPr>
        <p:spPr>
          <a:xfrm>
            <a:off x="6217920" y="1691640"/>
            <a:ext cx="5486400" cy="457200"/>
          </a:xfrm>
          <a:prstGeom prst="rect">
            <a:avLst/>
          </a:prstGeom>
          <a:noFill/>
        </p:spPr>
        <p:txBody>
          <a:bodyPr wrap="square">
            <a:spAutoFit/>
          </a:bodyPr>
          <a:lstStyle/>
          <a:p>
            <a:pPr algn="l"/>
            <a:r>
              <a:rPr sz="1600" b="0" i="0">
                <a:solidFill>
                  <a:srgbClr val="999999"/>
                </a:solidFill>
              </a:rPr>
              <a:t>[No valid photo link]</a:t>
            </a:r>
          </a:p>
        </p:txBody>
      </p:sp>
      <p:sp>
        <p:nvSpPr>
          <p:cNvPr id="13" name="TextBox 12"/>
          <p:cNvSpPr txBox="1"/>
          <p:nvPr/>
        </p:nvSpPr>
        <p:spPr>
          <a:xfrm>
            <a:off x="10972800" y="6400800"/>
            <a:ext cx="914400" cy="274320"/>
          </a:xfrm>
          <a:prstGeom prst="rect">
            <a:avLst/>
          </a:prstGeom>
          <a:noFill/>
        </p:spPr>
        <p:txBody>
          <a:bodyPr wrap="square">
            <a:spAutoFit/>
          </a:bodyPr>
          <a:lstStyle/>
          <a:p>
            <a:pPr algn="l"/>
            <a:r>
              <a:rPr sz="900" b="0" i="0">
                <a:solidFill>
                  <a:srgbClr val="404040"/>
                </a:solidFill>
              </a:rPr>
              <a:t>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其他  (22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H0888001_S_10134752  |  純牛奶</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NT-TW</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青衣倉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Warehouse貨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H260904523501  |  Waybill: 8165105179-2</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同事派送時未有發現有貨品欠缺問題</a:t>
            </a:r>
          </a:p>
        </p:txBody>
      </p:sp>
      <p:sp>
        <p:nvSpPr>
          <p:cNvPr id="11" name="TextBox 10"/>
          <p:cNvSpPr txBox="1"/>
          <p:nvPr/>
        </p:nvSpPr>
        <p:spPr>
          <a:xfrm>
            <a:off x="457200" y="3749039"/>
            <a:ext cx="5486400" cy="2743200"/>
          </a:xfrm>
          <a:prstGeom prst="rect">
            <a:avLst/>
          </a:prstGeom>
          <a:noFill/>
        </p:spPr>
        <p:txBody>
          <a:bodyPr wrap="square">
            <a:spAutoFit/>
          </a:bodyPr>
          <a:lstStyle/>
          <a:p>
            <a:pPr algn="l"/>
            <a:r>
              <a:rPr sz="1600">
                <a:solidFill>
                  <a:srgbClr val="404040"/>
                </a:solidFill>
              </a:rPr>
              <a:t>未送齊商品，之後只能補回價錢，不能補回貨品</a:t>
            </a:r>
          </a:p>
        </p:txBody>
      </p:sp>
      <p:sp>
        <p:nvSpPr>
          <p:cNvPr id="12" name="TextBox 11"/>
          <p:cNvSpPr txBox="1"/>
          <p:nvPr/>
        </p:nvSpPr>
        <p:spPr>
          <a:xfrm>
            <a:off x="6217920" y="1691640"/>
            <a:ext cx="5486400" cy="457200"/>
          </a:xfrm>
          <a:prstGeom prst="rect">
            <a:avLst/>
          </a:prstGeom>
          <a:noFill/>
        </p:spPr>
        <p:txBody>
          <a:bodyPr wrap="square">
            <a:spAutoFit/>
          </a:bodyPr>
          <a:lstStyle/>
          <a:p>
            <a:pPr algn="l"/>
            <a:r>
              <a:rPr sz="1600" b="0" i="0">
                <a:solidFill>
                  <a:srgbClr val="999999"/>
                </a:solidFill>
              </a:rPr>
              <a:t>[No valid photo link]</a:t>
            </a:r>
          </a:p>
        </p:txBody>
      </p:sp>
      <p:sp>
        <p:nvSpPr>
          <p:cNvPr id="13" name="TextBox 12"/>
          <p:cNvSpPr txBox="1"/>
          <p:nvPr/>
        </p:nvSpPr>
        <p:spPr>
          <a:xfrm>
            <a:off x="10972800" y="6400800"/>
            <a:ext cx="914400" cy="274320"/>
          </a:xfrm>
          <a:prstGeom prst="rect">
            <a:avLst/>
          </a:prstGeom>
          <a:noFill/>
        </p:spPr>
        <p:txBody>
          <a:bodyPr wrap="square">
            <a:spAutoFit/>
          </a:bodyPr>
          <a:lstStyle/>
          <a:p>
            <a:pPr algn="l"/>
            <a:r>
              <a:rPr sz="900" b="0" i="0">
                <a:solidFill>
                  <a:srgbClr val="404040"/>
                </a:solidFill>
              </a:rPr>
              <a:t>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儲存問題  (10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H0888001_S_P10016911  |  頂上茉莉香米 #金象#金象牌#香米#米#煮食#煮飯#煲仔飯#金象米</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ETK</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將軍澳倉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Warehouse貨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H260822520688  |  Waybill: 8139786920-1</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在貨品出倉時已經不是真空包裝</a:t>
            </a:r>
          </a:p>
        </p:txBody>
      </p:sp>
      <p:sp>
        <p:nvSpPr>
          <p:cNvPr id="11" name="TextBox 10"/>
          <p:cNvSpPr txBox="1"/>
          <p:nvPr/>
        </p:nvSpPr>
        <p:spPr>
          <a:xfrm>
            <a:off x="457200" y="3749039"/>
            <a:ext cx="5486400" cy="2743200"/>
          </a:xfrm>
          <a:prstGeom prst="rect">
            <a:avLst/>
          </a:prstGeom>
          <a:noFill/>
        </p:spPr>
        <p:txBody>
          <a:bodyPr wrap="square">
            <a:spAutoFit/>
          </a:bodyPr>
          <a:lstStyle/>
          <a:p>
            <a:pPr algn="l"/>
            <a:r>
              <a:rPr sz="1600">
                <a:solidFill>
                  <a:srgbClr val="404040"/>
                </a:solidFill>
              </a:rPr>
              <a:t>買錯了三包. 得1 包 有真空 無損 
 買錯我問題 無抽真空 會生谷牛 有昆虫 唔放得耐😵</a:t>
            </a:r>
          </a:p>
        </p:txBody>
      </p:sp>
      <p:pic>
        <p:nvPicPr>
          <p:cNvPr id="12" name="Picture 11" descr="case_img_儲存問題_0.jpg"/>
          <p:cNvPicPr>
            <a:picLocks noChangeAspect="1"/>
          </p:cNvPicPr>
          <p:nvPr/>
        </p:nvPicPr>
        <p:blipFill>
          <a:blip r:embed="rId2"/>
          <a:stretch>
            <a:fillRect/>
          </a:stretch>
        </p:blipFill>
        <p:spPr>
          <a:xfrm>
            <a:off x="6217920" y="1691640"/>
            <a:ext cx="3291839" cy="4389120"/>
          </a:xfrm>
          <a:prstGeom prst="rect">
            <a:avLst/>
          </a:prstGeom>
        </p:spPr>
      </p:pic>
      <p:sp>
        <p:nvSpPr>
          <p:cNvPr id="13" name="TextBox 12"/>
          <p:cNvSpPr txBox="1"/>
          <p:nvPr/>
        </p:nvSpPr>
        <p:spPr>
          <a:xfrm>
            <a:off x="10972800" y="6400800"/>
            <a:ext cx="914400" cy="274320"/>
          </a:xfrm>
          <a:prstGeom prst="rect">
            <a:avLst/>
          </a:prstGeom>
          <a:noFill/>
        </p:spPr>
        <p:txBody>
          <a:bodyPr wrap="square">
            <a:spAutoFit/>
          </a:bodyPr>
          <a:lstStyle/>
          <a:p>
            <a:pPr algn="l"/>
            <a:r>
              <a:rPr sz="900" b="0" i="0">
                <a:solidFill>
                  <a:srgbClr val="404040"/>
                </a:solidFill>
              </a:rPr>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儲存問題  (10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H0888001_S_P10016911  |  頂上茉莉香米 #金象#金象牌#香米#米#煮食#煮飯#煲仔飯#金象米</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ETX</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觀塘倉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Warehouse貨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H260829545858  |  Waybill: 8154161367-1</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上貨時已非全部都真空</a:t>
            </a:r>
          </a:p>
        </p:txBody>
      </p:sp>
      <p:sp>
        <p:nvSpPr>
          <p:cNvPr id="11" name="TextBox 10"/>
          <p:cNvSpPr txBox="1"/>
          <p:nvPr/>
        </p:nvSpPr>
        <p:spPr>
          <a:xfrm>
            <a:off x="457200" y="3749039"/>
            <a:ext cx="5486400" cy="2743200"/>
          </a:xfrm>
          <a:prstGeom prst="rect">
            <a:avLst/>
          </a:prstGeom>
          <a:noFill/>
        </p:spPr>
        <p:txBody>
          <a:bodyPr wrap="square">
            <a:spAutoFit/>
          </a:bodyPr>
          <a:lstStyle/>
          <a:p>
            <a:pPr algn="l"/>
            <a:r>
              <a:rPr sz="1600">
                <a:solidFill>
                  <a:srgbClr val="404040"/>
                </a:solidFill>
              </a:rPr>
              <a:t>買咗5包米，全部冇真空包裝，而且仲有穿窿！非常失望，喺百佳網購幾包米起碼有一半係真空包裝，呢度買全部冇真空，估計打八五折就係咁嘅原因！極之失望</a:t>
            </a:r>
          </a:p>
        </p:txBody>
      </p:sp>
      <p:pic>
        <p:nvPicPr>
          <p:cNvPr id="12" name="Picture 11" descr="case_img_儲存問題_1.jpg"/>
          <p:cNvPicPr>
            <a:picLocks noChangeAspect="1"/>
          </p:cNvPicPr>
          <p:nvPr/>
        </p:nvPicPr>
        <p:blipFill>
          <a:blip r:embed="rId2"/>
          <a:stretch>
            <a:fillRect/>
          </a:stretch>
        </p:blipFill>
        <p:spPr>
          <a:xfrm>
            <a:off x="6217920" y="1691640"/>
            <a:ext cx="3291839" cy="4389120"/>
          </a:xfrm>
          <a:prstGeom prst="rect">
            <a:avLst/>
          </a:prstGeom>
        </p:spPr>
      </p:pic>
      <p:sp>
        <p:nvSpPr>
          <p:cNvPr id="13" name="TextBox 12"/>
          <p:cNvSpPr txBox="1"/>
          <p:nvPr/>
        </p:nvSpPr>
        <p:spPr>
          <a:xfrm>
            <a:off x="10972800" y="6400800"/>
            <a:ext cx="914400" cy="274320"/>
          </a:xfrm>
          <a:prstGeom prst="rect">
            <a:avLst/>
          </a:prstGeom>
          <a:noFill/>
        </p:spPr>
        <p:txBody>
          <a:bodyPr wrap="square">
            <a:spAutoFit/>
          </a:bodyPr>
          <a:lstStyle/>
          <a:p>
            <a:pPr algn="l"/>
            <a:r>
              <a:rPr sz="900" b="0" i="0">
                <a:solidFill>
                  <a:srgbClr val="404040"/>
                </a:solidFill>
              </a:rPr>
              <a:t>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溫度問題  (5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H7659002_S_OMFF0005  |  野生大眼雞(長尾木棉) (已去內臟) 2-4條裝 (急凍-18°C)(新舊包裝隨機發放)</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ETX</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觀塘倉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Merchant貨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H260828541488  |  Waybill: 8151856529</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沒有圖片未能查看</a:t>
            </a:r>
          </a:p>
        </p:txBody>
      </p:sp>
      <p:sp>
        <p:nvSpPr>
          <p:cNvPr id="11" name="TextBox 10"/>
          <p:cNvSpPr txBox="1"/>
          <p:nvPr/>
        </p:nvSpPr>
        <p:spPr>
          <a:xfrm>
            <a:off x="457200" y="3749039"/>
            <a:ext cx="5943600" cy="365760"/>
          </a:xfrm>
          <a:prstGeom prst="rect">
            <a:avLst/>
          </a:prstGeom>
          <a:noFill/>
        </p:spPr>
        <p:txBody>
          <a:bodyPr wrap="square">
            <a:spAutoFit/>
          </a:bodyPr>
          <a:lstStyle/>
          <a:p>
            <a:pPr algn="l"/>
            <a:r>
              <a:rPr sz="1600" b="1" i="0">
                <a:solidFill>
                  <a:srgbClr val="FF6600"/>
                </a:solidFill>
              </a:rPr>
              <a:t>冷藏平均: -0.7  |  急凍平均: -11.7  |  冷藏最低: -4.1  |  急凍最低: -20.1</a:t>
            </a:r>
          </a:p>
        </p:txBody>
      </p:sp>
      <p:sp>
        <p:nvSpPr>
          <p:cNvPr id="12" name="TextBox 11"/>
          <p:cNvSpPr txBox="1"/>
          <p:nvPr/>
        </p:nvSpPr>
        <p:spPr>
          <a:xfrm>
            <a:off x="457200" y="4114799"/>
            <a:ext cx="5486400" cy="2743200"/>
          </a:xfrm>
          <a:prstGeom prst="rect">
            <a:avLst/>
          </a:prstGeom>
          <a:noFill/>
        </p:spPr>
        <p:txBody>
          <a:bodyPr wrap="square">
            <a:spAutoFit/>
          </a:bodyPr>
          <a:lstStyle/>
          <a:p>
            <a:pPr algn="l"/>
            <a:r>
              <a:rPr sz="1600">
                <a:solidFill>
                  <a:srgbClr val="404040"/>
                </a:solidFill>
              </a:rPr>
              <a:t>今次尼兩條魚又腥又臭魚肚不乾淨兩條魚色澤暗紫色以後都不會購買, 以往多次回購魚肚很乾淨</a:t>
            </a:r>
          </a:p>
        </p:txBody>
      </p:sp>
      <p:sp>
        <p:nvSpPr>
          <p:cNvPr id="13" name="TextBox 12"/>
          <p:cNvSpPr txBox="1"/>
          <p:nvPr/>
        </p:nvSpPr>
        <p:spPr>
          <a:xfrm>
            <a:off x="6217920" y="1691640"/>
            <a:ext cx="5486400" cy="457200"/>
          </a:xfrm>
          <a:prstGeom prst="rect">
            <a:avLst/>
          </a:prstGeom>
          <a:noFill/>
        </p:spPr>
        <p:txBody>
          <a:bodyPr wrap="square">
            <a:spAutoFit/>
          </a:bodyPr>
          <a:lstStyle/>
          <a:p>
            <a:pPr algn="l"/>
            <a:r>
              <a:rPr sz="1600" b="0" i="0">
                <a:solidFill>
                  <a:srgbClr val="999999"/>
                </a:solidFill>
              </a:rPr>
              <a:t>[No valid photo link]</a:t>
            </a:r>
          </a:p>
        </p:txBody>
      </p:sp>
      <p:sp>
        <p:nvSpPr>
          <p:cNvPr id="14" name="TextBox 13"/>
          <p:cNvSpPr txBox="1"/>
          <p:nvPr/>
        </p:nvSpPr>
        <p:spPr>
          <a:xfrm>
            <a:off x="10972800" y="6400800"/>
            <a:ext cx="914400" cy="274320"/>
          </a:xfrm>
          <a:prstGeom prst="rect">
            <a:avLst/>
          </a:prstGeom>
          <a:noFill/>
        </p:spPr>
        <p:txBody>
          <a:bodyPr wrap="square">
            <a:spAutoFit/>
          </a:bodyPr>
          <a:lstStyle/>
          <a:p>
            <a:pPr algn="l"/>
            <a:r>
              <a:rPr sz="900" b="0" i="0">
                <a:solidFill>
                  <a:srgbClr val="404040"/>
                </a:solidFill>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溫度問題  (5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H7659002_S_OMFF0005  |  野生大眼雞(長尾木棉) (已去內臟) 2-4條裝 (急凍-18°C)(新舊包裝隨機發放)</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ETX</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觀塘倉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Merchant貨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H260901536105  |  Waybill: 8160672415</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冷機溫度正常</a:t>
            </a:r>
          </a:p>
        </p:txBody>
      </p:sp>
      <p:sp>
        <p:nvSpPr>
          <p:cNvPr id="11" name="TextBox 10"/>
          <p:cNvSpPr txBox="1"/>
          <p:nvPr/>
        </p:nvSpPr>
        <p:spPr>
          <a:xfrm>
            <a:off x="457200" y="3749039"/>
            <a:ext cx="5943600" cy="365760"/>
          </a:xfrm>
          <a:prstGeom prst="rect">
            <a:avLst/>
          </a:prstGeom>
          <a:noFill/>
        </p:spPr>
        <p:txBody>
          <a:bodyPr wrap="square">
            <a:spAutoFit/>
          </a:bodyPr>
          <a:lstStyle/>
          <a:p>
            <a:pPr algn="l"/>
            <a:r>
              <a:rPr sz="1600" b="1" i="0">
                <a:solidFill>
                  <a:srgbClr val="FF6600"/>
                </a:solidFill>
              </a:rPr>
              <a:t>冷藏平均: 4.3  |  急凍平均: -9.5  |  冷藏最低: -1  |  急凍最低: -16.7</a:t>
            </a:r>
          </a:p>
        </p:txBody>
      </p:sp>
      <p:sp>
        <p:nvSpPr>
          <p:cNvPr id="12" name="TextBox 11"/>
          <p:cNvSpPr txBox="1"/>
          <p:nvPr/>
        </p:nvSpPr>
        <p:spPr>
          <a:xfrm>
            <a:off x="457200" y="4114799"/>
            <a:ext cx="5486400" cy="2743200"/>
          </a:xfrm>
          <a:prstGeom prst="rect">
            <a:avLst/>
          </a:prstGeom>
          <a:noFill/>
        </p:spPr>
        <p:txBody>
          <a:bodyPr wrap="square">
            <a:spAutoFit/>
          </a:bodyPr>
          <a:lstStyle/>
          <a:p>
            <a:pPr algn="l"/>
            <a:r>
              <a:rPr sz="1600">
                <a:solidFill>
                  <a:srgbClr val="404040"/>
                </a:solidFill>
              </a:rPr>
              <a:t>食品已壞掉有臭味，要求退款</a:t>
            </a:r>
          </a:p>
        </p:txBody>
      </p:sp>
      <p:sp>
        <p:nvSpPr>
          <p:cNvPr id="13" name="TextBox 12"/>
          <p:cNvSpPr txBox="1"/>
          <p:nvPr/>
        </p:nvSpPr>
        <p:spPr>
          <a:xfrm>
            <a:off x="6217920" y="1691640"/>
            <a:ext cx="5486400" cy="457200"/>
          </a:xfrm>
          <a:prstGeom prst="rect">
            <a:avLst/>
          </a:prstGeom>
          <a:noFill/>
        </p:spPr>
        <p:txBody>
          <a:bodyPr wrap="square">
            <a:spAutoFit/>
          </a:bodyPr>
          <a:lstStyle/>
          <a:p>
            <a:pPr algn="l"/>
            <a:r>
              <a:rPr sz="1600" b="0" i="0">
                <a:solidFill>
                  <a:srgbClr val="999999"/>
                </a:solidFill>
              </a:rPr>
              <a:t>[No valid photo link]</a:t>
            </a:r>
          </a:p>
        </p:txBody>
      </p:sp>
      <p:sp>
        <p:nvSpPr>
          <p:cNvPr id="14" name="TextBox 13"/>
          <p:cNvSpPr txBox="1"/>
          <p:nvPr/>
        </p:nvSpPr>
        <p:spPr>
          <a:xfrm>
            <a:off x="10972800" y="6400800"/>
            <a:ext cx="914400" cy="274320"/>
          </a:xfrm>
          <a:prstGeom prst="rect">
            <a:avLst/>
          </a:prstGeom>
          <a:noFill/>
        </p:spPr>
        <p:txBody>
          <a:bodyPr wrap="square">
            <a:spAutoFit/>
          </a:bodyPr>
          <a:lstStyle/>
          <a:p>
            <a:pPr algn="l"/>
            <a:r>
              <a:rPr sz="900" b="0" i="0">
                <a:solidFill>
                  <a:srgbClr val="404040"/>
                </a:solidFill>
              </a:rPr>
              <a:t>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罐裝問題  (2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H0888001_S_10016316  |  可口可樂無糖汽水 [罐裝] 330ml x 12 (新舊包裝隨機發送)</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ETX</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觀塘倉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Warehouse貨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H260830502608  |  Waybill: 8155121536-1</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倉儲溫度問題</a:t>
            </a:r>
          </a:p>
        </p:txBody>
      </p:sp>
      <p:sp>
        <p:nvSpPr>
          <p:cNvPr id="11" name="TextBox 10"/>
          <p:cNvSpPr txBox="1"/>
          <p:nvPr/>
        </p:nvSpPr>
        <p:spPr>
          <a:xfrm>
            <a:off x="457200" y="3749039"/>
            <a:ext cx="5486400" cy="2743200"/>
          </a:xfrm>
          <a:prstGeom prst="rect">
            <a:avLst/>
          </a:prstGeom>
          <a:noFill/>
        </p:spPr>
        <p:txBody>
          <a:bodyPr wrap="square">
            <a:spAutoFit/>
          </a:bodyPr>
          <a:lstStyle/>
          <a:p>
            <a:pPr algn="l"/>
            <a:r>
              <a:rPr sz="1600">
                <a:solidFill>
                  <a:srgbClr val="404040"/>
                </a:solidFill>
              </a:rPr>
              <a:t>12 罐入面有五罐係突出的，開汽水會爆出來的，包裝表面沒有凹陷的</a:t>
            </a:r>
          </a:p>
        </p:txBody>
      </p:sp>
      <p:pic>
        <p:nvPicPr>
          <p:cNvPr id="12" name="Picture 11" descr="case_img_罐裝問題_0.jpg"/>
          <p:cNvPicPr>
            <a:picLocks noChangeAspect="1"/>
          </p:cNvPicPr>
          <p:nvPr/>
        </p:nvPicPr>
        <p:blipFill>
          <a:blip r:embed="rId2"/>
          <a:stretch>
            <a:fillRect/>
          </a:stretch>
        </p:blipFill>
        <p:spPr>
          <a:xfrm>
            <a:off x="6217920" y="1691640"/>
            <a:ext cx="2468879" cy="43891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10515600" cy="640080"/>
          </a:xfrm>
          <a:prstGeom prst="rect">
            <a:avLst/>
          </a:prstGeom>
          <a:noFill/>
        </p:spPr>
        <p:txBody>
          <a:bodyPr wrap="square">
            <a:spAutoFit/>
          </a:bodyPr>
          <a:lstStyle/>
          <a:p>
            <a:pPr algn="l"/>
            <a:r>
              <a:rPr sz="2400" b="1" i="0">
                <a:solidFill>
                  <a:srgbClr val="FFFFFF"/>
                </a:solidFill>
              </a:rPr>
              <a:t>Weekly Poor PDP Case Review</a:t>
            </a:r>
          </a:p>
        </p:txBody>
      </p:sp>
      <p:sp>
        <p:nvSpPr>
          <p:cNvPr id="4" name="TextBox 3"/>
          <p:cNvSpPr txBox="1"/>
          <p:nvPr/>
        </p:nvSpPr>
        <p:spPr>
          <a:xfrm>
            <a:off x="457200" y="1051560"/>
            <a:ext cx="8229600" cy="457200"/>
          </a:xfrm>
          <a:prstGeom prst="rect">
            <a:avLst/>
          </a:prstGeom>
          <a:noFill/>
        </p:spPr>
        <p:txBody>
          <a:bodyPr wrap="square">
            <a:spAutoFit/>
          </a:bodyPr>
          <a:lstStyle/>
          <a:p>
            <a:pPr algn="l"/>
            <a:r>
              <a:rPr sz="2000" b="1" i="0">
                <a:solidFill>
                  <a:srgbClr val="2E75B6"/>
                </a:solidFill>
              </a:rPr>
              <a:t>Case Review - 天雨/水濕問題  (1 cases in window)</a:t>
            </a:r>
          </a:p>
        </p:txBody>
      </p:sp>
      <p:sp>
        <p:nvSpPr>
          <p:cNvPr id="5" name="TextBox 4"/>
          <p:cNvSpPr txBox="1"/>
          <p:nvPr/>
        </p:nvSpPr>
        <p:spPr>
          <a:xfrm>
            <a:off x="457200" y="1691640"/>
            <a:ext cx="5943600" cy="457200"/>
          </a:xfrm>
          <a:prstGeom prst="rect">
            <a:avLst/>
          </a:prstGeom>
          <a:noFill/>
        </p:spPr>
        <p:txBody>
          <a:bodyPr wrap="square">
            <a:spAutoFit/>
          </a:bodyPr>
          <a:lstStyle/>
          <a:p>
            <a:pPr algn="l"/>
            <a:r>
              <a:rPr sz="1400" b="1" i="0">
                <a:solidFill>
                  <a:srgbClr val="2E75B6"/>
                </a:solidFill>
              </a:rPr>
              <a:t>Product ID: H0888001_S_P10020854  |  [原箱] 屈臣氏蒸餾水 800ml X 24 (新舊包裝隨機發送)</a:t>
            </a:r>
          </a:p>
        </p:txBody>
      </p:sp>
      <p:sp>
        <p:nvSpPr>
          <p:cNvPr id="6" name="TextBox 5"/>
          <p:cNvSpPr txBox="1"/>
          <p:nvPr/>
        </p:nvSpPr>
        <p:spPr>
          <a:xfrm>
            <a:off x="457200" y="2103120"/>
            <a:ext cx="2743200" cy="320040"/>
          </a:xfrm>
          <a:prstGeom prst="rect">
            <a:avLst/>
          </a:prstGeom>
          <a:noFill/>
        </p:spPr>
        <p:txBody>
          <a:bodyPr wrap="square">
            <a:spAutoFit/>
          </a:bodyPr>
          <a:lstStyle/>
          <a:p>
            <a:pPr algn="l"/>
            <a:r>
              <a:rPr sz="1600" b="0" i="0">
                <a:solidFill>
                  <a:srgbClr val="404040"/>
                </a:solidFill>
              </a:rPr>
              <a:t>District: ETX</a:t>
            </a:r>
          </a:p>
        </p:txBody>
      </p:sp>
      <p:sp>
        <p:nvSpPr>
          <p:cNvPr id="7" name="TextBox 6"/>
          <p:cNvSpPr txBox="1"/>
          <p:nvPr/>
        </p:nvSpPr>
        <p:spPr>
          <a:xfrm>
            <a:off x="457200" y="2377440"/>
            <a:ext cx="4114800" cy="320040"/>
          </a:xfrm>
          <a:prstGeom prst="rect">
            <a:avLst/>
          </a:prstGeom>
          <a:noFill/>
        </p:spPr>
        <p:txBody>
          <a:bodyPr wrap="square">
            <a:spAutoFit/>
          </a:bodyPr>
          <a:lstStyle/>
          <a:p>
            <a:pPr algn="l"/>
            <a:r>
              <a:rPr sz="1600" b="0" i="0">
                <a:solidFill>
                  <a:srgbClr val="404040"/>
                </a:solidFill>
              </a:rPr>
              <a:t>Shipping Warehouse: 觀塘倉</a:t>
            </a:r>
          </a:p>
        </p:txBody>
      </p:sp>
      <p:sp>
        <p:nvSpPr>
          <p:cNvPr id="8" name="TextBox 7"/>
          <p:cNvSpPr txBox="1"/>
          <p:nvPr/>
        </p:nvSpPr>
        <p:spPr>
          <a:xfrm>
            <a:off x="457200" y="2651760"/>
            <a:ext cx="5486400" cy="320040"/>
          </a:xfrm>
          <a:prstGeom prst="rect">
            <a:avLst/>
          </a:prstGeom>
          <a:noFill/>
        </p:spPr>
        <p:txBody>
          <a:bodyPr wrap="square">
            <a:spAutoFit/>
          </a:bodyPr>
          <a:lstStyle/>
          <a:p>
            <a:pPr algn="l"/>
            <a:r>
              <a:rPr sz="1600" b="0" i="0">
                <a:solidFill>
                  <a:srgbClr val="404040"/>
                </a:solidFill>
              </a:rPr>
              <a:t>Pickpack Warehouse: Warehouse貨</a:t>
            </a:r>
          </a:p>
        </p:txBody>
      </p:sp>
      <p:sp>
        <p:nvSpPr>
          <p:cNvPr id="9" name="TextBox 8"/>
          <p:cNvSpPr txBox="1"/>
          <p:nvPr/>
        </p:nvSpPr>
        <p:spPr>
          <a:xfrm>
            <a:off x="457200" y="2926080"/>
            <a:ext cx="5943600" cy="320040"/>
          </a:xfrm>
          <a:prstGeom prst="rect">
            <a:avLst/>
          </a:prstGeom>
          <a:noFill/>
        </p:spPr>
        <p:txBody>
          <a:bodyPr wrap="square">
            <a:spAutoFit/>
          </a:bodyPr>
          <a:lstStyle/>
          <a:p>
            <a:pPr algn="l"/>
            <a:r>
              <a:rPr sz="1800" b="0" i="0">
                <a:solidFill>
                  <a:srgbClr val="606060"/>
                </a:solidFill>
              </a:rPr>
              <a:t>Order: H260830542529  |  Waybill: 8156988115-1</a:t>
            </a:r>
          </a:p>
        </p:txBody>
      </p:sp>
      <p:sp>
        <p:nvSpPr>
          <p:cNvPr id="10" name="TextBox 9"/>
          <p:cNvSpPr txBox="1"/>
          <p:nvPr/>
        </p:nvSpPr>
        <p:spPr>
          <a:xfrm>
            <a:off x="457200" y="3291840"/>
            <a:ext cx="5943600" cy="365760"/>
          </a:xfrm>
          <a:prstGeom prst="rect">
            <a:avLst/>
          </a:prstGeom>
          <a:noFill/>
        </p:spPr>
        <p:txBody>
          <a:bodyPr wrap="square">
            <a:spAutoFit/>
          </a:bodyPr>
          <a:lstStyle/>
          <a:p>
            <a:pPr algn="l"/>
            <a:r>
              <a:rPr sz="1600" b="0" i="1">
                <a:solidFill>
                  <a:srgbClr val="505050"/>
                </a:solidFill>
              </a:rPr>
              <a:t>Checking Result: 紙箱太軟, 一搬起就損壞</a:t>
            </a:r>
          </a:p>
        </p:txBody>
      </p:sp>
      <p:sp>
        <p:nvSpPr>
          <p:cNvPr id="11" name="TextBox 10"/>
          <p:cNvSpPr txBox="1"/>
          <p:nvPr/>
        </p:nvSpPr>
        <p:spPr>
          <a:xfrm>
            <a:off x="457200" y="3749039"/>
            <a:ext cx="5486400" cy="2743200"/>
          </a:xfrm>
          <a:prstGeom prst="rect">
            <a:avLst/>
          </a:prstGeom>
          <a:noFill/>
        </p:spPr>
        <p:txBody>
          <a:bodyPr wrap="square">
            <a:spAutoFit/>
          </a:bodyPr>
          <a:lstStyle/>
          <a:p>
            <a:pPr algn="l"/>
            <a:r>
              <a:rPr sz="1600">
                <a:solidFill>
                  <a:srgbClr val="404040"/>
                </a:solidFill>
              </a:rPr>
              <a:t>一箱水全部散開晒,唔係第一次，冇落雨都試過係咁樣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1130</Words>
  <Application>Microsoft Office PowerPoint</Application>
  <PresentationFormat>Custom</PresentationFormat>
  <Paragraphs>207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chipanl</cp:lastModifiedBy>
  <cp:revision>2</cp:revision>
  <dcterms:created xsi:type="dcterms:W3CDTF">2013-01-27T09:14:16Z</dcterms:created>
  <dcterms:modified xsi:type="dcterms:W3CDTF">2026-09-18T09:34:43Z</dcterms:modified>
  <cp:category/>
</cp:coreProperties>
</file>