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1-564C-4DE8-8F02-B159275723F5}"/>
              </c:ext>
            </c:extLst>
          </c:dPt>
          <c:dPt>
            <c:idx val="1"/>
            <c:bubble3D val="0"/>
            <c:spPr>
              <a:solidFill>
                <a:srgbClr val="999999"/>
              </a:solidFill>
            </c:spPr>
            <c:extLst>
              <c:ext xmlns:c16="http://schemas.microsoft.com/office/drawing/2014/chart" uri="{C3380CC4-5D6E-409C-BE32-E72D297353CC}">
                <c16:uniqueId val="{00000003-564C-4DE8-8F02-B159275723F5}"/>
              </c:ext>
            </c:extLst>
          </c:dPt>
          <c:dPt>
            <c:idx val="2"/>
            <c:bubble3D val="0"/>
            <c:spPr>
              <a:solidFill>
                <a:srgbClr val="FF6600"/>
              </a:solidFill>
            </c:spPr>
            <c:extLst>
              <c:ext xmlns:c16="http://schemas.microsoft.com/office/drawing/2014/chart" uri="{C3380CC4-5D6E-409C-BE32-E72D297353CC}">
                <c16:uniqueId val="{00000005-564C-4DE8-8F02-B159275723F5}"/>
              </c:ext>
            </c:extLst>
          </c:dPt>
          <c:dPt>
            <c:idx val="3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7-564C-4DE8-8F02-B159275723F5}"/>
              </c:ext>
            </c:extLst>
          </c:dPt>
          <c:dPt>
            <c:idx val="4"/>
            <c:bubble3D val="0"/>
            <c:spPr>
              <a:solidFill>
                <a:srgbClr val="7C3AED"/>
              </a:solidFill>
            </c:spPr>
            <c:extLst>
              <c:ext xmlns:c16="http://schemas.microsoft.com/office/drawing/2014/chart" uri="{C3380CC4-5D6E-409C-BE32-E72D297353CC}">
                <c16:uniqueId val="{00000009-564C-4DE8-8F02-B159275723F5}"/>
              </c:ext>
            </c:extLst>
          </c:dPt>
          <c:dPt>
            <c:idx val="5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B-564C-4DE8-8F02-B159275723F5}"/>
              </c:ext>
            </c:extLst>
          </c:dPt>
          <c:cat>
            <c:strRef>
              <c:f>Sheet1!$A$2:$A$7</c:f>
              <c:strCache>
                <c:ptCount val="6"/>
                <c:pt idx="0">
                  <c:v>包裝問題</c:v>
                </c:pt>
                <c:pt idx="1">
                  <c:v>其他</c:v>
                </c:pt>
                <c:pt idx="2">
                  <c:v>溫度問題</c:v>
                </c:pt>
                <c:pt idx="3">
                  <c:v>原箱問題</c:v>
                </c:pt>
                <c:pt idx="4">
                  <c:v>少貨問題</c:v>
                </c:pt>
                <c:pt idx="5">
                  <c:v>罐裝問題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18</c:v>
                </c:pt>
                <c:pt idx="2">
                  <c:v>5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64C-4DE8-8F02-B15927572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601200" y="5029200"/>
            <a:ext cx="2560320" cy="1828800"/>
          </a:xfrm>
          <a:prstGeom prst="rtTriangl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Weekly Poor PDP Case Review</a:t>
            </a:r>
          </a:p>
          <a:p>
            <a:pPr algn="l"/>
            <a:r>
              <a:rPr sz="2800">
                <a:solidFill>
                  <a:srgbClr val="BDD7EE"/>
                </a:solidFill>
              </a:rPr>
              <a:t>Aug 17 - Aug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Overview  |  Aug 17 - Aug 30,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709007"/>
              </p:ext>
            </p:extLst>
          </p:nvPr>
        </p:nvGraphicFramePr>
        <p:xfrm>
          <a:off x="731520" y="1737360"/>
          <a:ext cx="8686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Poor Case in last 2 weeks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Types of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Case related to Log Team (%)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59 (80.8%)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Case not related to Log Team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04040"/>
                          </a:solidFill>
                        </a:rPr>
                        <a:t>14 (19.2%)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Problems Pattern  |  Aug 17 - Aug 30,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6126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包裝問題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50.8%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其他</a:t>
                      </a:r>
                    </a:p>
                  </a:txBody>
                  <a:tcPr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溫度問題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原箱問題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少貨問題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404040"/>
                          </a:solidFill>
                        </a:rPr>
                        <a:t>罐裝問題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0" y="1828800"/>
          <a:ext cx="4114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Comparison of Performance by Districts  |  Aug 17 - Aug 30,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71483"/>
              </p:ext>
            </p:extLst>
          </p:nvPr>
        </p:nvGraphicFramePr>
        <p:xfrm>
          <a:off x="457200" y="1737360"/>
          <a:ext cx="1124712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Rep. Product (ID + Name)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% of Log Team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ETX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H0888001_S_10160087  |  【原箱】雪花啤酒 (330毫升 x24)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30.5%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ETK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H0888001_S_P10020854  |  [原箱] 屈臣氏蒸餾水 800ml X 24 (新舊包裝隨機...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WTK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H0888001_S_P10020854  |  [</a:t>
                      </a:r>
                      <a:r>
                        <a:rPr sz="1400" b="0" dirty="0" err="1">
                          <a:solidFill>
                            <a:srgbClr val="404040"/>
                          </a:solidFill>
                        </a:rPr>
                        <a:t>原箱</a:t>
                      </a:r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] </a:t>
                      </a:r>
                      <a:r>
                        <a:rPr sz="1400" b="0" dirty="0" err="1">
                          <a:solidFill>
                            <a:srgbClr val="404040"/>
                          </a:solidFill>
                        </a:rPr>
                        <a:t>屈臣氏蒸餾水</a:t>
                      </a:r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 800ml X 24 (</a:t>
                      </a:r>
                      <a:r>
                        <a:rPr sz="1400" b="0" dirty="0" err="1">
                          <a:solidFill>
                            <a:srgbClr val="404040"/>
                          </a:solidFill>
                        </a:rPr>
                        <a:t>新舊包裝隨機</a:t>
                      </a:r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WTX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H0888001_S_P10020854  |  [原箱] 屈臣氏蒸餾水 800ml X 24 (新舊包裝隨機...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H0888001_S_10007711  |  </a:t>
                      </a:r>
                      <a:r>
                        <a:rPr sz="1400" b="0" dirty="0" err="1">
                          <a:solidFill>
                            <a:srgbClr val="404040"/>
                          </a:solidFill>
                        </a:rPr>
                        <a:t>檸檬茶</a:t>
                      </a:r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 250ml x 9包裝 (</a:t>
                      </a:r>
                      <a:r>
                        <a:rPr sz="1400" b="0" dirty="0" err="1">
                          <a:solidFill>
                            <a:srgbClr val="404040"/>
                          </a:solidFill>
                        </a:rPr>
                        <a:t>新舊包裝隨機發送</a:t>
                      </a:r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H0888001_S_10021201A  |  </a:t>
                      </a:r>
                      <a:r>
                        <a:rPr sz="1400" b="0" dirty="0" err="1">
                          <a:solidFill>
                            <a:srgbClr val="404040"/>
                          </a:solidFill>
                        </a:rPr>
                        <a:t>可口可樂無糖汽水</a:t>
                      </a:r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 x2 #zero #coke zero (...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H0888001_S_P10020854  |  [原箱] 屈臣氏蒸餾水 800ml X 24 (新舊包裝隨機...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H0888001_S_10162231  |  [法國直送] 全脂牛奶(1公升)#Halal清真#3.6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H0888001_S_10020138A  |  [官方供應] 亨氏清雞湯 #上等嫩雞 #不含人造色素和防腐劑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40404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000"/>
                </a:solidFill>
              </a:rPr>
              <a:t>Total Log Team Cases: 59  |  Sum%: 100.1%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包裝問題</a:t>
            </a:r>
            <a:r>
              <a:rPr sz="2000" b="1" i="0" dirty="0">
                <a:solidFill>
                  <a:srgbClr val="2E75B6"/>
                </a:solidFill>
              </a:rPr>
              <a:t>  (30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H0888001_S_P10020854  |  [</a:t>
            </a:r>
            <a:r>
              <a:rPr sz="1400" b="1" i="0" dirty="0" err="1">
                <a:solidFill>
                  <a:srgbClr val="2E75B6"/>
                </a:solidFill>
              </a:rPr>
              <a:t>原箱</a:t>
            </a:r>
            <a:r>
              <a:rPr sz="1400" b="1" i="0" dirty="0">
                <a:solidFill>
                  <a:srgbClr val="2E75B6"/>
                </a:solidFill>
              </a:rPr>
              <a:t>] </a:t>
            </a:r>
            <a:r>
              <a:rPr sz="1400" b="1" i="0" dirty="0" err="1">
                <a:solidFill>
                  <a:srgbClr val="2E75B6"/>
                </a:solidFill>
              </a:rPr>
              <a:t>屈臣氏蒸餾水</a:t>
            </a:r>
            <a:r>
              <a:rPr sz="1400" b="1" i="0" dirty="0">
                <a:solidFill>
                  <a:srgbClr val="2E75B6"/>
                </a:solidFill>
              </a:rPr>
              <a:t> 800ml X 24 (</a:t>
            </a:r>
            <a:r>
              <a:rPr sz="1400" b="1" i="0" dirty="0" err="1">
                <a:solidFill>
                  <a:srgbClr val="2E75B6"/>
                </a:solidFill>
              </a:rPr>
              <a:t>新舊包裝隨機發送</a:t>
            </a:r>
            <a:r>
              <a:rPr sz="1400" b="1" i="0" dirty="0">
                <a:solidFill>
                  <a:srgbClr val="2E75B6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008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04040"/>
                </a:solidFill>
              </a:rPr>
              <a:t>Shipping Warehouse: </a:t>
            </a:r>
            <a:r>
              <a:rPr sz="1600" b="0" i="0" dirty="0" err="1">
                <a:solidFill>
                  <a:srgbClr val="404040"/>
                </a:solidFill>
              </a:rPr>
              <a:t>將軍澳倉</a:t>
            </a:r>
            <a:endParaRPr sz="1600" b="0" i="0" dirty="0">
              <a:solidFill>
                <a:srgbClr val="40404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404040"/>
                </a:solidFill>
              </a:rPr>
              <a:t>Pickpack</a:t>
            </a:r>
            <a:r>
              <a:rPr sz="1600" b="0" i="0" dirty="0">
                <a:solidFill>
                  <a:srgbClr val="404040"/>
                </a:solidFill>
              </a:rPr>
              <a:t> Warehouse: </a:t>
            </a:r>
            <a:r>
              <a:rPr sz="1600" b="0" i="0" dirty="0" err="1">
                <a:solidFill>
                  <a:srgbClr val="404040"/>
                </a:solidFill>
              </a:rPr>
              <a:t>Warehouse貨</a:t>
            </a:r>
            <a:endParaRPr sz="1600" b="0" i="0" dirty="0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H260823507486  |  Waybill: 8141807103-1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05050"/>
                </a:solidFill>
              </a:rPr>
              <a:t>Checking Result: </a:t>
            </a:r>
            <a:r>
              <a:rPr sz="1600" b="0" i="1" dirty="0" err="1">
                <a:solidFill>
                  <a:srgbClr val="505050"/>
                </a:solidFill>
              </a:rPr>
              <a:t>外包裝用再做紙做成</a:t>
            </a:r>
            <a:r>
              <a:rPr sz="1600" b="0" i="1" dirty="0">
                <a:solidFill>
                  <a:srgbClr val="505050"/>
                </a:solidFill>
              </a:rPr>
              <a:t>, </a:t>
            </a:r>
            <a:r>
              <a:rPr sz="1600" b="0" i="1" dirty="0" err="1">
                <a:solidFill>
                  <a:srgbClr val="505050"/>
                </a:solidFill>
              </a:rPr>
              <a:t>比普通紙箱更容易破爛</a:t>
            </a:r>
            <a:endParaRPr sz="1600" b="0" i="1" dirty="0">
              <a:solidFill>
                <a:srgbClr val="50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404040"/>
                </a:solidFill>
              </a:rPr>
              <a:t>Customer Comment: </a:t>
            </a:r>
          </a:p>
          <a:p>
            <a:pPr algn="l"/>
            <a:r>
              <a:rPr sz="1600" dirty="0">
                <a:solidFill>
                  <a:srgbClr val="404040"/>
                </a:solidFill>
              </a:rPr>
              <a:t>9箱基本上全部外箱都爛</a:t>
            </a:r>
          </a:p>
        </p:txBody>
      </p:sp>
      <p:pic>
        <p:nvPicPr>
          <p:cNvPr id="12" name="Picture 11" descr="case_img_包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包裝問題</a:t>
            </a:r>
            <a:r>
              <a:rPr sz="2000" b="1" i="0" dirty="0">
                <a:solidFill>
                  <a:srgbClr val="2E75B6"/>
                </a:solidFill>
              </a:rPr>
              <a:t>  (30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H0888001_S_P10020854  |  [</a:t>
            </a:r>
            <a:r>
              <a:rPr sz="1400" b="1" i="0" dirty="0" err="1">
                <a:solidFill>
                  <a:srgbClr val="2E75B6"/>
                </a:solidFill>
              </a:rPr>
              <a:t>原箱</a:t>
            </a:r>
            <a:r>
              <a:rPr sz="1400" b="1" i="0" dirty="0">
                <a:solidFill>
                  <a:srgbClr val="2E75B6"/>
                </a:solidFill>
              </a:rPr>
              <a:t>] </a:t>
            </a:r>
            <a:r>
              <a:rPr sz="1400" b="1" i="0" dirty="0" err="1">
                <a:solidFill>
                  <a:srgbClr val="2E75B6"/>
                </a:solidFill>
              </a:rPr>
              <a:t>屈臣氏蒸餾水</a:t>
            </a:r>
            <a:r>
              <a:rPr sz="1400" b="1" i="0" dirty="0">
                <a:solidFill>
                  <a:srgbClr val="2E75B6"/>
                </a:solidFill>
              </a:rPr>
              <a:t> 800ml X 24 (</a:t>
            </a:r>
            <a:r>
              <a:rPr sz="1400" b="1" i="0" dirty="0" err="1">
                <a:solidFill>
                  <a:srgbClr val="2E75B6"/>
                </a:solidFill>
              </a:rPr>
              <a:t>新舊包裝隨機發送</a:t>
            </a:r>
            <a:r>
              <a:rPr sz="1400" b="1" i="0" dirty="0">
                <a:solidFill>
                  <a:srgbClr val="2E75B6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944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04040"/>
                </a:solidFill>
              </a:rPr>
              <a:t>Shipping Warehouse: </a:t>
            </a:r>
            <a:r>
              <a:rPr sz="1600" b="0" i="0" dirty="0" err="1">
                <a:solidFill>
                  <a:srgbClr val="404040"/>
                </a:solidFill>
              </a:rPr>
              <a:t>將軍澳倉</a:t>
            </a:r>
            <a:endParaRPr sz="1600" b="0" i="0" dirty="0">
              <a:solidFill>
                <a:srgbClr val="40404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H260824517442  |  Waybill: 8144901680-1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05050"/>
                </a:solidFill>
              </a:rPr>
              <a:t>Checking Result: </a:t>
            </a:r>
            <a:r>
              <a:rPr sz="1600" b="0" i="1" dirty="0" err="1">
                <a:solidFill>
                  <a:srgbClr val="505050"/>
                </a:solidFill>
              </a:rPr>
              <a:t>外包裝用再做紙做成</a:t>
            </a:r>
            <a:r>
              <a:rPr sz="1600" b="0" i="1" dirty="0">
                <a:solidFill>
                  <a:srgbClr val="505050"/>
                </a:solidFill>
              </a:rPr>
              <a:t>, </a:t>
            </a:r>
            <a:r>
              <a:rPr sz="1600" b="0" i="1" dirty="0" err="1">
                <a:solidFill>
                  <a:srgbClr val="505050"/>
                </a:solidFill>
              </a:rPr>
              <a:t>比普通紙箱更容易破爛</a:t>
            </a:r>
            <a:endParaRPr sz="1600" b="0" i="1" dirty="0">
              <a:solidFill>
                <a:srgbClr val="50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 err="1">
                <a:solidFill>
                  <a:srgbClr val="404040"/>
                </a:solidFill>
              </a:rPr>
              <a:t>專登上官方旗艦店訂購，點解包裝都可以爛成咁</a:t>
            </a:r>
            <a:r>
              <a:rPr sz="1600" dirty="0">
                <a:solidFill>
                  <a:srgbClr val="404040"/>
                </a:solidFill>
              </a:rPr>
              <a:t>😥😥</a:t>
            </a:r>
          </a:p>
        </p:txBody>
      </p:sp>
      <p:pic>
        <p:nvPicPr>
          <p:cNvPr id="12" name="Picture 11" descr="case_img_包裝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其他</a:t>
            </a:r>
            <a:r>
              <a:rPr sz="2000" b="1" i="0" dirty="0">
                <a:solidFill>
                  <a:srgbClr val="2E75B6"/>
                </a:solidFill>
              </a:rPr>
              <a:t>  (18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H0888001_S_10160087  |  【</a:t>
            </a:r>
            <a:r>
              <a:rPr sz="1400" b="1" i="0" dirty="0" err="1">
                <a:solidFill>
                  <a:srgbClr val="2E75B6"/>
                </a:solidFill>
              </a:rPr>
              <a:t>原箱】雪花啤酒</a:t>
            </a:r>
            <a:r>
              <a:rPr sz="1400" b="1" i="0" dirty="0">
                <a:solidFill>
                  <a:srgbClr val="2E75B6"/>
                </a:solidFill>
              </a:rPr>
              <a:t> (330毫升 x24)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H260724512104  |  Waybill: 8085522674-1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05050"/>
                </a:solidFill>
              </a:rPr>
              <a:t>Checking Result: </a:t>
            </a:r>
            <a:r>
              <a:rPr sz="1600" b="0" i="1" dirty="0" err="1">
                <a:solidFill>
                  <a:srgbClr val="505050"/>
                </a:solidFill>
              </a:rPr>
              <a:t>倉儲溫度問題</a:t>
            </a:r>
            <a:endParaRPr sz="1600" b="0" i="1" dirty="0">
              <a:solidFill>
                <a:srgbClr val="50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 err="1">
                <a:solidFill>
                  <a:srgbClr val="404040"/>
                </a:solidFill>
              </a:rPr>
              <a:t>啲啤酒跌到開唔到其實係咩玩法</a:t>
            </a:r>
            <a:r>
              <a:rPr sz="1600" dirty="0">
                <a:solidFill>
                  <a:srgbClr val="404040"/>
                </a:solidFill>
              </a:rPr>
              <a:t>？
 </a:t>
            </a:r>
            <a:r>
              <a:rPr sz="1600" dirty="0" err="1">
                <a:solidFill>
                  <a:srgbClr val="404040"/>
                </a:solidFill>
              </a:rPr>
              <a:t>考驗智慧</a:t>
            </a:r>
            <a:r>
              <a:rPr sz="1600" dirty="0">
                <a:solidFill>
                  <a:srgbClr val="404040"/>
                </a:solidFill>
              </a:rPr>
              <a:t>？</a:t>
            </a:r>
          </a:p>
        </p:txBody>
      </p:sp>
      <p:pic>
        <p:nvPicPr>
          <p:cNvPr id="12" name="Picture 11" descr="case_img_其他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溫度問題</a:t>
            </a:r>
            <a:r>
              <a:rPr sz="2000" b="1" i="0" dirty="0">
                <a:solidFill>
                  <a:srgbClr val="2E75B6"/>
                </a:solidFill>
              </a:rPr>
              <a:t>  (5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H0888001_S_10144447  |  </a:t>
            </a:r>
            <a:r>
              <a:rPr sz="1400" b="1" i="0" dirty="0" err="1">
                <a:solidFill>
                  <a:srgbClr val="2E75B6"/>
                </a:solidFill>
              </a:rPr>
              <a:t>挪威帶皮三文魚柳</a:t>
            </a:r>
            <a:r>
              <a:rPr sz="1400" b="1" i="0" dirty="0">
                <a:solidFill>
                  <a:srgbClr val="2E75B6"/>
                </a:solidFill>
              </a:rPr>
              <a:t>(急凍-18°C)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屯門倉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H260715543520  |  Waybill: 8070888370-1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05050"/>
                </a:solidFill>
              </a:rPr>
              <a:t>Checking Result: </a:t>
            </a:r>
            <a:r>
              <a:rPr sz="1600" b="0" i="1" dirty="0" err="1">
                <a:solidFill>
                  <a:srgbClr val="505050"/>
                </a:solidFill>
              </a:rPr>
              <a:t>品質問題</a:t>
            </a:r>
            <a:r>
              <a:rPr sz="1600" b="0" i="1" dirty="0">
                <a:solidFill>
                  <a:srgbClr val="505050"/>
                </a:solidFill>
              </a:rPr>
              <a:t>, </a:t>
            </a:r>
            <a:r>
              <a:rPr sz="1600" b="0" i="1" dirty="0" err="1">
                <a:solidFill>
                  <a:srgbClr val="505050"/>
                </a:solidFill>
              </a:rPr>
              <a:t>車輀凍櫃溫度正常</a:t>
            </a:r>
            <a:endParaRPr sz="1600" b="0" i="1" dirty="0">
              <a:solidFill>
                <a:srgbClr val="50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 err="1">
                <a:solidFill>
                  <a:srgbClr val="404040"/>
                </a:solidFill>
              </a:rPr>
              <a:t>的三文魚好以溶咗雪咁冇真空兼拿埋一舊</a:t>
            </a:r>
            <a:endParaRPr sz="1600" dirty="0">
              <a:solidFill>
                <a:srgbClr val="404040"/>
              </a:solidFill>
            </a:endParaRPr>
          </a:p>
        </p:txBody>
      </p:sp>
      <p:pic>
        <p:nvPicPr>
          <p:cNvPr id="12" name="Picture 11" descr="case_img_溫度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溫度問題</a:t>
            </a:r>
            <a:r>
              <a:rPr sz="2000" b="1" i="0" dirty="0">
                <a:solidFill>
                  <a:srgbClr val="2E75B6"/>
                </a:solidFill>
              </a:rPr>
              <a:t>  (5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H0888001_S_10144447  |  </a:t>
            </a:r>
            <a:r>
              <a:rPr sz="1400" b="1" i="0" dirty="0" err="1">
                <a:solidFill>
                  <a:srgbClr val="2E75B6"/>
                </a:solidFill>
              </a:rPr>
              <a:t>挪威帶皮三文魚柳</a:t>
            </a:r>
            <a:r>
              <a:rPr sz="1400" b="1" i="0" dirty="0">
                <a:solidFill>
                  <a:srgbClr val="2E75B6"/>
                </a:solidFill>
              </a:rPr>
              <a:t>(急凍-18°C)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NT-TW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H260829535095  |  Waybill: 8153618518-1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6600"/>
                </a:solidFill>
              </a:rPr>
              <a:t>冷藏平均</a:t>
            </a:r>
            <a:r>
              <a:rPr sz="1600" b="1" i="0" dirty="0">
                <a:solidFill>
                  <a:srgbClr val="FF6600"/>
                </a:solidFill>
              </a:rPr>
              <a:t>: 4.6  |  </a:t>
            </a:r>
            <a:r>
              <a:rPr sz="1600" b="1" i="0" dirty="0" err="1">
                <a:solidFill>
                  <a:srgbClr val="FF6600"/>
                </a:solidFill>
              </a:rPr>
              <a:t>急凍平均</a:t>
            </a:r>
            <a:r>
              <a:rPr sz="1600" b="1" i="0" dirty="0">
                <a:solidFill>
                  <a:srgbClr val="FF6600"/>
                </a:solidFill>
              </a:rPr>
              <a:t>: 12.5  |  </a:t>
            </a:r>
            <a:r>
              <a:rPr sz="1600" b="1" i="0" dirty="0" err="1">
                <a:solidFill>
                  <a:srgbClr val="FF6600"/>
                </a:solidFill>
              </a:rPr>
              <a:t>冷藏最低</a:t>
            </a:r>
            <a:r>
              <a:rPr sz="1600" b="1" i="0" dirty="0">
                <a:solidFill>
                  <a:srgbClr val="FF6600"/>
                </a:solidFill>
              </a:rPr>
              <a:t>: 7.2  |  </a:t>
            </a:r>
            <a:r>
              <a:rPr sz="1600" b="1" i="0" dirty="0" err="1">
                <a:solidFill>
                  <a:srgbClr val="FF6600"/>
                </a:solidFill>
              </a:rPr>
              <a:t>急凍最低</a:t>
            </a:r>
            <a:r>
              <a:rPr sz="1600" b="1" i="0" dirty="0">
                <a:solidFill>
                  <a:srgbClr val="FF6600"/>
                </a:solidFill>
              </a:rPr>
              <a:t>: 12.5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 err="1">
                <a:solidFill>
                  <a:srgbClr val="404040"/>
                </a:solidFill>
              </a:rPr>
              <a:t>送到嚟都溶晒雪嘅，咁仲食唔食好啊</a:t>
            </a:r>
            <a:r>
              <a:rPr sz="1600" dirty="0">
                <a:solidFill>
                  <a:srgbClr val="404040"/>
                </a:solidFill>
              </a:rPr>
              <a:t>？</a:t>
            </a:r>
          </a:p>
        </p:txBody>
      </p:sp>
      <p:pic>
        <p:nvPicPr>
          <p:cNvPr id="12" name="Picture 11" descr="case_img_溫度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原箱問題</a:t>
            </a:r>
            <a:r>
              <a:rPr sz="2000" b="1" i="0" dirty="0">
                <a:solidFill>
                  <a:srgbClr val="2E75B6"/>
                </a:solidFill>
              </a:rPr>
              <a:t>  (4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H0888001_S_10160087  |  【</a:t>
            </a:r>
            <a:r>
              <a:rPr sz="1400" b="1" i="0" dirty="0" err="1">
                <a:solidFill>
                  <a:srgbClr val="2E75B6"/>
                </a:solidFill>
              </a:rPr>
              <a:t>原箱】雪花啤酒</a:t>
            </a:r>
            <a:r>
              <a:rPr sz="1400" b="1" i="0" dirty="0">
                <a:solidFill>
                  <a:srgbClr val="2E75B6"/>
                </a:solidFill>
              </a:rPr>
              <a:t> (330毫升 x24)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H260814511841  |  Waybill: 8124355075-1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05050"/>
                </a:solidFill>
              </a:rPr>
              <a:t>Checking Result: </a:t>
            </a:r>
            <a:r>
              <a:rPr sz="1600" b="0" i="1" dirty="0" err="1">
                <a:solidFill>
                  <a:srgbClr val="505050"/>
                </a:solidFill>
              </a:rPr>
              <a:t>倉儲溫度問題</a:t>
            </a:r>
            <a:endParaRPr sz="1600" b="0" i="1" dirty="0">
              <a:solidFill>
                <a:srgbClr val="50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 err="1">
                <a:solidFill>
                  <a:srgbClr val="404040"/>
                </a:solidFill>
              </a:rPr>
              <a:t>我買原箱啤酒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其中一個原因就係方便存放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唔係啲啤酒散收收咁</a:t>
            </a:r>
            <a:r>
              <a:rPr sz="1600" dirty="0">
                <a:solidFill>
                  <a:srgbClr val="404040"/>
                </a:solidFill>
              </a:rPr>
              <a:t>
 </a:t>
            </a:r>
            <a:r>
              <a:rPr sz="1600" dirty="0" err="1">
                <a:solidFill>
                  <a:srgbClr val="404040"/>
                </a:solidFill>
              </a:rPr>
              <a:t>但收貨就本身個盒已經爛左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啲啤酒就跌過哂落地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漲哂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就黎爆開咁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企都企唔穩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你要人地飲既時候全程用手揸住</a:t>
            </a:r>
            <a:r>
              <a:rPr sz="1600" dirty="0">
                <a:solidFill>
                  <a:srgbClr val="404040"/>
                </a:solidFill>
              </a:rPr>
              <a:t>？
 </a:t>
            </a:r>
            <a:r>
              <a:rPr sz="1600" dirty="0" err="1">
                <a:solidFill>
                  <a:srgbClr val="404040"/>
                </a:solidFill>
              </a:rPr>
              <a:t>包裝穩妥其實係好簡單好基本既要求</a:t>
            </a:r>
            <a:r>
              <a:rPr sz="1600" dirty="0">
                <a:solidFill>
                  <a:srgbClr val="404040"/>
                </a:solidFill>
              </a:rPr>
              <a:t>
 </a:t>
            </a:r>
            <a:r>
              <a:rPr sz="1600" dirty="0" err="1">
                <a:solidFill>
                  <a:srgbClr val="404040"/>
                </a:solidFill>
              </a:rPr>
              <a:t>如果做唔到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麻煩係商品描述度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備註清楚“原裝包裝質量成疑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可以未送貨先損壞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啤酒有機會破損</a:t>
            </a:r>
            <a:r>
              <a:rPr sz="1600" dirty="0">
                <a:solidFill>
                  <a:srgbClr val="404040"/>
                </a:solidFill>
              </a:rPr>
              <a:t> </a:t>
            </a:r>
            <a:r>
              <a:rPr sz="1600" dirty="0" err="1">
                <a:solidFill>
                  <a:srgbClr val="404040"/>
                </a:solidFill>
              </a:rPr>
              <a:t>請有心理準備</a:t>
            </a:r>
            <a:r>
              <a:rPr sz="1600" dirty="0">
                <a:solidFill>
                  <a:srgbClr val="404040"/>
                </a:solidFill>
              </a:rPr>
              <a:t>”</a:t>
            </a:r>
          </a:p>
        </p:txBody>
      </p:sp>
      <p:pic>
        <p:nvPicPr>
          <p:cNvPr id="12" name="Picture 11" descr="case_img_原箱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少貨問題</a:t>
            </a:r>
            <a:r>
              <a:rPr sz="2000" b="1" i="0" dirty="0">
                <a:solidFill>
                  <a:srgbClr val="2E75B6"/>
                </a:solidFill>
              </a:rPr>
              <a:t>  (1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H0888001_S_10010656A  |  北海道特選3.6牛乳 1公升 X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WTK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H260817501056  |  Waybill: 8131044818-1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486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>
                <a:solidFill>
                  <a:srgbClr val="404040"/>
                </a:solidFill>
              </a:rPr>
              <a:t>牛奶買咗兩盒，只係送一盒，雞湯買咗六盒，只係送四盒，一時冇留意，提交申請退款時只係填咗牛奶，冇填到雞湯，請問而家可以點樣申請退款？有冇搞錯？每樣嘢都送漏啲？</a:t>
            </a:r>
          </a:p>
        </p:txBody>
      </p:sp>
      <p:pic>
        <p:nvPicPr>
          <p:cNvPr id="11" name="Picture 10" descr="case_img_少貨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75B6"/>
                </a:solidFill>
              </a:rPr>
              <a:t>Case Review - </a:t>
            </a:r>
            <a:r>
              <a:rPr sz="2000" b="1" i="0" dirty="0" err="1">
                <a:solidFill>
                  <a:srgbClr val="2E75B6"/>
                </a:solidFill>
              </a:rPr>
              <a:t>罐裝問題</a:t>
            </a:r>
            <a:r>
              <a:rPr sz="2000" b="1" i="0" dirty="0">
                <a:solidFill>
                  <a:srgbClr val="2E75B6"/>
                </a:solidFill>
              </a:rPr>
              <a:t>  (1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E75B6"/>
                </a:solidFill>
              </a:rPr>
              <a:t>Product ID: H0888001_S_10136268A  |  玉泉梳打水330ml x 8罐裝 x 2 (</a:t>
            </a:r>
            <a:r>
              <a:rPr sz="1400" b="1" i="0" dirty="0" err="1">
                <a:solidFill>
                  <a:srgbClr val="2E75B6"/>
                </a:solidFill>
              </a:rPr>
              <a:t>新舊包裝隨機發送</a:t>
            </a:r>
            <a:r>
              <a:rPr sz="1400" b="1" i="0" dirty="0">
                <a:solidFill>
                  <a:srgbClr val="2E75B6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WTK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06060"/>
                </a:solidFill>
              </a:rPr>
              <a:t>Order: H260819507945  |  Waybill: 8134096967-1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</a:rPr>
              <a:t>Customer Comment: </a:t>
            </a:r>
            <a:br>
              <a:rPr lang="en-US" sz="1600" dirty="0">
                <a:solidFill>
                  <a:srgbClr val="404040"/>
                </a:solidFill>
              </a:rPr>
            </a:br>
            <a:r>
              <a:rPr sz="1600" dirty="0">
                <a:solidFill>
                  <a:srgbClr val="404040"/>
                </a:solidFill>
              </a:rPr>
              <a:t>有2set，其中8罐冇事，另外1set，一半都是罐底凸起！</a:t>
            </a:r>
          </a:p>
        </p:txBody>
      </p:sp>
      <p:pic>
        <p:nvPicPr>
          <p:cNvPr id="11" name="Picture 10" descr="case_img_罐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2468879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911</Words>
  <Application>Microsoft Office PowerPoint</Application>
  <PresentationFormat>Custom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chipanl</cp:lastModifiedBy>
  <cp:revision>3</cp:revision>
  <dcterms:created xsi:type="dcterms:W3CDTF">2013-01-27T09:14:16Z</dcterms:created>
  <dcterms:modified xsi:type="dcterms:W3CDTF">2026-09-11T08:06:06Z</dcterms:modified>
  <cp:category/>
</cp:coreProperties>
</file>