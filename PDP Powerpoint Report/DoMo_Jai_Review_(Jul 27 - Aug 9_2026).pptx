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94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dPt>
            <c:idx val="0"/>
            <c:bubble3D val="0"/>
            <c:spPr>
              <a:solidFill>
                <a:srgbClr val="2E75B6"/>
              </a:solidFill>
            </c:spPr>
            <c:extLst>
              <c:ext xmlns:c16="http://schemas.microsoft.com/office/drawing/2014/chart" uri="{C3380CC4-5D6E-409C-BE32-E72D297353CC}">
                <c16:uniqueId val="{00000001-5980-4F75-B989-BB62DA296774}"/>
              </c:ext>
            </c:extLst>
          </c:dPt>
          <c:dPt>
            <c:idx val="1"/>
            <c:bubble3D val="0"/>
            <c:spPr>
              <a:solidFill>
                <a:srgbClr val="999999"/>
              </a:solidFill>
            </c:spPr>
            <c:extLst>
              <c:ext xmlns:c16="http://schemas.microsoft.com/office/drawing/2014/chart" uri="{C3380CC4-5D6E-409C-BE32-E72D297353CC}">
                <c16:uniqueId val="{00000003-5980-4F75-B989-BB62DA296774}"/>
              </c:ext>
            </c:extLst>
          </c:dPt>
          <c:dPt>
            <c:idx val="2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5-5980-4F75-B989-BB62DA296774}"/>
              </c:ext>
            </c:extLst>
          </c:dPt>
          <c:dPt>
            <c:idx val="3"/>
            <c:bubble3D val="0"/>
            <c:spPr>
              <a:solidFill>
                <a:srgbClr val="FFC000"/>
              </a:solidFill>
            </c:spPr>
            <c:extLst>
              <c:ext xmlns:c16="http://schemas.microsoft.com/office/drawing/2014/chart" uri="{C3380CC4-5D6E-409C-BE32-E72D297353CC}">
                <c16:uniqueId val="{00000007-5980-4F75-B989-BB62DA296774}"/>
              </c:ext>
            </c:extLst>
          </c:dPt>
          <c:dPt>
            <c:idx val="4"/>
            <c:bubble3D val="0"/>
            <c:spPr>
              <a:solidFill>
                <a:srgbClr val="FF6600"/>
              </a:solidFill>
            </c:spPr>
            <c:extLst>
              <c:ext xmlns:c16="http://schemas.microsoft.com/office/drawing/2014/chart" uri="{C3380CC4-5D6E-409C-BE32-E72D297353CC}">
                <c16:uniqueId val="{00000009-5980-4F75-B989-BB62DA296774}"/>
              </c:ext>
            </c:extLst>
          </c:dPt>
          <c:cat>
            <c:strRef>
              <c:f>Sheet1!$A$2:$A$6</c:f>
              <c:strCache>
                <c:ptCount val="5"/>
                <c:pt idx="0">
                  <c:v>包裝問題</c:v>
                </c:pt>
                <c:pt idx="1">
                  <c:v>其他</c:v>
                </c:pt>
                <c:pt idx="2">
                  <c:v>原箱問題</c:v>
                </c:pt>
                <c:pt idx="3">
                  <c:v>罐裝問題</c:v>
                </c:pt>
                <c:pt idx="4">
                  <c:v>溫度問題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10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980-4F75-B989-BB62DA2967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Triangle 2"/>
          <p:cNvSpPr/>
          <p:nvPr/>
        </p:nvSpPr>
        <p:spPr>
          <a:xfrm>
            <a:off x="9601200" y="5029200"/>
            <a:ext cx="2560320" cy="1828800"/>
          </a:xfrm>
          <a:prstGeom prst="rtTriangl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Weekly Poor PDP Case Review</a:t>
            </a:r>
          </a:p>
          <a:p>
            <a:pPr algn="l"/>
            <a:r>
              <a:rPr sz="2800">
                <a:solidFill>
                  <a:srgbClr val="BDD7EE"/>
                </a:solidFill>
              </a:rPr>
              <a:t>Jul 27 - Aug 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Overview  |  Jul 27 - Aug 9,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419827"/>
              </p:ext>
            </p:extLst>
          </p:nvPr>
        </p:nvGraphicFramePr>
        <p:xfrm>
          <a:off x="731520" y="1737360"/>
          <a:ext cx="86868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 dirty="0">
                          <a:solidFill>
                            <a:srgbClr val="404040"/>
                          </a:solidFill>
                        </a:rPr>
                        <a:t>Total Poor Case in last 2 weeks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75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Types of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 dirty="0">
                          <a:solidFill>
                            <a:srgbClr val="404040"/>
                          </a:solidFill>
                        </a:rPr>
                        <a:t>Total Case related to Log Team (%)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404040"/>
                          </a:solidFill>
                        </a:rPr>
                        <a:t>58 (77.3%)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2000" b="1">
                          <a:solidFill>
                            <a:srgbClr val="404040"/>
                          </a:solidFill>
                        </a:rPr>
                        <a:t>Total Case not related to Log Team (%)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>
                          <a:solidFill>
                            <a:srgbClr val="404040"/>
                          </a:solidFill>
                        </a:rPr>
                        <a:t>17 (22.7%)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Problems Pattern  |  Jul 27 - Aug 9,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61264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Products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04040"/>
                          </a:solidFill>
                        </a:rPr>
                        <a:t>包裝問題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04040"/>
                          </a:solidFill>
                        </a:rPr>
                        <a:t>其他</a:t>
                      </a:r>
                    </a:p>
                  </a:txBody>
                  <a:tcPr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04040"/>
                          </a:solidFill>
                        </a:rPr>
                        <a:t>原箱問題</a:t>
                      </a:r>
                    </a:p>
                  </a:txBody>
                  <a:tcP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04040"/>
                          </a:solidFill>
                        </a:rPr>
                        <a:t>罐裝問題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12.1%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04040"/>
                          </a:solidFill>
                        </a:rPr>
                        <a:t>溫度問題</a:t>
                      </a:r>
                    </a:p>
                  </a:txBody>
                  <a:tcPr>
                    <a:solidFill>
                      <a:srgbClr val="FF66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40404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772400" y="1828800"/>
          <a:ext cx="41148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</a:rPr>
              <a:t>Comparison of Performance by Districts  |  Jul 27 - Aug 9,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7373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District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Cases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Rep. Product (ID + Name)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</a:rPr>
                        <a:t>% of Log Team</a:t>
                      </a:r>
                    </a:p>
                  </a:txBody>
                  <a:tcPr>
                    <a:solidFill>
                      <a:srgbClr val="1F4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H0888001_S_P10020854  |  [原箱] 屈臣氏蒸餾水 800ml X 24 (新舊包裝隨機...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22.4%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H0888001_S_P10136268  |  [原箱] 玉泉梳打水330ml x 8罐裝 x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H0888001_S_10147857  |  鈣思寶高鈣高蛋白質豆奶250毫升 x 6 (新舊包裝隨機發送)...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H0888001_S_P10020921  |  [原箱] 梳打水 330ml x 24 (新舊包裝隨機發送)...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H0888001_S_10007451E  |  有機無調整豆乳 (六盒非原箱)(新舊包裝隨機發貨)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8.6%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ETX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H0888001_S_P10016911  |  頂上茉莉香米 #金象#金象牌#香米#米#煮食#煮飯#煲仔飯#...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NT-TSM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H0888001_S_P10020854  |  [原箱] 屈臣氏蒸餾水 800ml X 24 (新舊包裝隨機...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NT-TW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H0888001_S_P10021200  |  [原箱] 罐裝可口可樂汽水 (新舊包裝隨機發送)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H0888001_S_P10136268  |  [原箱] 玉泉梳打水330ml x 8罐裝 x 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5.2%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404040"/>
                          </a:solidFill>
                        </a:rPr>
                        <a:t>WTK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H0888001_S_10011866  |  廣島蠔 (2L) #北吉 #Ocean Point (急凍-1...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404040"/>
                          </a:solidFill>
                        </a:rPr>
                        <a:t>3.4%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858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8000"/>
                </a:solidFill>
              </a:rPr>
              <a:t>Total Log Team Cases: 58  |  Sum%: 100.0%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包裝問題  (29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H0888001_S_P10020854  |  [原箱] 屈臣氏蒸餾水 800ml X 24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H260716511028  |  Waybill: 8071431973-1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產品本身包裝箱用再做紙製成, 非常軟及易破爛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有成三四箱啲紙箱爛晒</a:t>
            </a:r>
          </a:p>
        </p:txBody>
      </p:sp>
      <p:pic>
        <p:nvPicPr>
          <p:cNvPr id="12" name="Picture 11" descr="case_img_包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包裝問題  (29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H0888001_S_P10020854  |  [原箱] 屈臣氏蒸餾水 800ml X 24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NT-TM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H260807509935  |  Waybill: 8111095944-1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翻查貨品入倉相片已見到貨品入倉時包裝已經有爛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已經唔係第一次，今次忍唔住影低相，水冇問題，但紙箱爛到咁，箱水又咁重，搬遠少少拎落自己車都有難度。
 保持包裝完整有咁難嗎？越做越差。</a:t>
            </a:r>
          </a:p>
        </p:txBody>
      </p:sp>
      <p:pic>
        <p:nvPicPr>
          <p:cNvPr id="12" name="Picture 11" descr="case_img_包裝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其他  (10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H0888001_S_10007451E  |  有機無調整豆乳 (六盒非原箱)(新舊包裝隨機發貨)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WTX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H260724508543  |  Waybill: 8085385500-1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貨倉出小貨問題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6盒變5盒，1盒變咗泡泡紙……</a:t>
            </a:r>
          </a:p>
        </p:txBody>
      </p:sp>
      <p:pic>
        <p:nvPicPr>
          <p:cNvPr id="12" name="Picture 11" descr="case_img_其他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原箱問題  (7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H0888001_S_10007451E  |  有機無調整豆乳 (六盒非原箱)(新舊包裝隨機發貨)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H260726518477  |  Waybill: 8089863649-1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 dirty="0">
                <a:solidFill>
                  <a:srgbClr val="505050"/>
                </a:solidFill>
              </a:rPr>
              <a:t>Checking Result: </a:t>
            </a:r>
            <a:r>
              <a:rPr sz="1600" b="0" i="1" dirty="0" err="1">
                <a:solidFill>
                  <a:srgbClr val="505050"/>
                </a:solidFill>
              </a:rPr>
              <a:t>SSI出貨問題</a:t>
            </a:r>
            <a:r>
              <a:rPr sz="1600" b="0" i="1" dirty="0">
                <a:solidFill>
                  <a:srgbClr val="505050"/>
                </a:solidFill>
              </a:rPr>
              <a:t> , </a:t>
            </a:r>
            <a:r>
              <a:rPr sz="1600" b="0" i="1" dirty="0" err="1">
                <a:solidFill>
                  <a:srgbClr val="505050"/>
                </a:solidFill>
              </a:rPr>
              <a:t>欠缺保護</a:t>
            </a:r>
            <a:r>
              <a:rPr sz="1600" b="0" i="1" dirty="0">
                <a:solidFill>
                  <a:srgbClr val="505050"/>
                </a:solidFill>
              </a:rPr>
              <a:t>, </a:t>
            </a:r>
            <a:r>
              <a:rPr sz="1600" b="0" i="1" dirty="0" err="1">
                <a:solidFill>
                  <a:srgbClr val="505050"/>
                </a:solidFill>
              </a:rPr>
              <a:t>非物流問題</a:t>
            </a:r>
            <a:endParaRPr sz="1600" b="0" i="1" dirty="0">
              <a:solidFill>
                <a:srgbClr val="50505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dirty="0" err="1">
                <a:solidFill>
                  <a:srgbClr val="404040"/>
                </a:solidFill>
              </a:rPr>
              <a:t>喺度同啲客玩字虱，唔寫原箱就亂咁送，完全冇一盒係完整，袋都無個，錢就識收</a:t>
            </a:r>
            <a:r>
              <a:rPr sz="1600" dirty="0">
                <a:solidFill>
                  <a:srgbClr val="404040"/>
                </a:solidFill>
              </a:rPr>
              <a:t>。
 </a:t>
            </a:r>
            <a:r>
              <a:rPr sz="1600" dirty="0" err="1">
                <a:solidFill>
                  <a:srgbClr val="404040"/>
                </a:solidFill>
              </a:rPr>
              <a:t>下便全部評論寫檢討根本冇檢討過。即係除咗threads@RickyWong，根本冇人理</a:t>
            </a:r>
            <a:r>
              <a:rPr sz="1600" dirty="0">
                <a:solidFill>
                  <a:srgbClr val="404040"/>
                </a:solidFill>
              </a:rPr>
              <a:t>。</a:t>
            </a:r>
          </a:p>
        </p:txBody>
      </p:sp>
      <p:pic>
        <p:nvPicPr>
          <p:cNvPr id="12" name="Picture 11" descr="case_img_原箱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原箱問題  (7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H0888001_S_10007451E  |  有機無調整豆乳 (六盒非原箱)(新舊包裝隨機發貨)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NT-ST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屯門倉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H260726513046  |  Waybill: 8089624286-1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SSI出貨問題 , 非物流問題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我訂了三箱，結果送來18盒散裝豆乳！跟HKTVmall投訴，他們沒有正面處理我的問題，非常失望！ 除非你們不介意收散裝貨， 不建議 跟這個商家訂購！！</a:t>
            </a:r>
          </a:p>
        </p:txBody>
      </p:sp>
      <p:pic>
        <p:nvPicPr>
          <p:cNvPr id="12" name="Picture 11" descr="case_img_原箱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罐裝問題  (7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H0888001_S_P10021200  |  [原箱] 罐裝可口可樂汽水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ETK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將軍澳倉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H260630503000  |  Waybill: 8041121017-3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凸罐問題, 主要為儲存狀況引起, 非人為導致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之前已經遇過一次，以為咁岩
 今次一排8罐有5罐都係突起
 太過份啦</a:t>
            </a:r>
          </a:p>
        </p:txBody>
      </p:sp>
      <p:pic>
        <p:nvPicPr>
          <p:cNvPr id="12" name="Picture 11" descr="case_img_罐裝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1/2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罐裝問題  (7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H0888001_S_P10021200  |  [原箱] 罐裝可口可樂汽水 (新舊包裝隨機發送)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Merchant貨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H260731539990  |  Waybill: 8099329190-2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過往不少以上情況都是在倉存高溫下引起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罐有明顯擠壓痕跡有凹凸表面，雖然只有四罐，但係應該整盆可樂都會有撞過，味道都會有唔同，好不幸被我遇上😭😭</a:t>
            </a:r>
          </a:p>
        </p:txBody>
      </p:sp>
      <p:pic>
        <p:nvPicPr>
          <p:cNvPr id="12" name="Picture 11" descr="case_img_罐裝問題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3291839" cy="43891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Weekly Poor PDP Case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</a:rPr>
              <a:t>Case Review - 溫度問題  (5 cases in window)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5B6"/>
                </a:solidFill>
              </a:rPr>
              <a:t>Product ID: H0888001_S_10137502A  |  挪威三文魚柳 (連皮)(4件裝 x 2包) (急凍) #海鮮#氣炸#香煎 #未去除魚鱗以免魚油流失, 及以免魚肉容易散及乾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District: ETX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Shipping Warehouse: 青衣倉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Pickpack Warehouse: Warehouse貨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06060"/>
                </a:solidFill>
              </a:rPr>
              <a:t>Order: H260731512412  |  Waybill: 8098191058-1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05050"/>
                </a:solidFill>
              </a:rPr>
              <a:t>Checking Result: 見到圖片三文魚仍然冰硬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04040"/>
                </a:solidFill>
              </a:rPr>
              <a:t>十分差，送來時候已有少溶雪，加上品質明顯有問題， 要求退回，但是還未有回覆，有冇搞錯，麻煩hktv mall盡快跟進</a:t>
            </a:r>
          </a:p>
        </p:txBody>
      </p:sp>
      <p:pic>
        <p:nvPicPr>
          <p:cNvPr id="12" name="Picture 11" descr="case_img_溫度問題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9164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940</Words>
  <Application>Microsoft Office PowerPoint</Application>
  <PresentationFormat>Custom</PresentationFormat>
  <Paragraphs>177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chipanl</cp:lastModifiedBy>
  <cp:revision>2</cp:revision>
  <dcterms:created xsi:type="dcterms:W3CDTF">2013-01-27T09:14:16Z</dcterms:created>
  <dcterms:modified xsi:type="dcterms:W3CDTF">2026-08-17T08:08:09Z</dcterms:modified>
  <cp:category/>
</cp:coreProperties>
</file>