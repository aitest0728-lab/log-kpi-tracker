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天雨/水濕問題</c:v>
                </c:pt>
                <c:pt idx="1">
                  <c:v>包裝問題</c:v>
                </c:pt>
                <c:pt idx="2">
                  <c:v>其他物流問題</c:v>
                </c:pt>
                <c:pt idx="3">
                  <c:v>溫度問題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</c:v>
                </c:pt>
                <c:pt idx="1">
                  <c:v>3</c:v>
                </c:pt>
                <c:pt idx="2">
                  <c:v>2</c:v>
                </c:pt>
                <c:pt idx="3">
                  <c:v>1</c:v>
                </c:pt>
              </c:numCache>
            </c:numRef>
          </c:val>
        </c:ser>
      </c:pieChart>
    </c:plotArea>
    <c:legend>
      <c:overlay val="0"/>
      <c:txPr>
        <a:bodyPr/>
        <a:lstStyle/>
        <a:p>
          <a:pPr>
            <a:defRPr sz="1100">
              <a:solidFill>
                <a:srgbClr val="1A1A2E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</a:rPr>
              <a:t>Weekly Poor PDP Case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CADCFC"/>
                </a:solidFill>
              </a:rPr>
              <a:t>Jul 20 – Aug 02,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ADCFC"/>
                </a:solidFill>
              </a:rPr>
              <a:t>Poor PDP Case Review  |  Log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10515600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6309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Metric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132588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Value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691639"/>
            <a:ext cx="10515600" cy="47548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764792"/>
            <a:ext cx="6309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Total Poor Case in last 2 weeks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1764792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E2761"/>
                </a:solidFill>
              </a:rPr>
              <a:t>19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194560"/>
            <a:ext cx="105156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267712"/>
            <a:ext cx="6309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Total Types of Product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2267712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E2761"/>
                </a:solidFill>
              </a:rPr>
              <a:t>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697480"/>
            <a:ext cx="10515600" cy="47548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770632"/>
            <a:ext cx="6309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Total Case related to Log Team (%)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2770632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E2761"/>
                </a:solidFill>
              </a:rPr>
              <a:t>10  (53%)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200400"/>
            <a:ext cx="105156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273552"/>
            <a:ext cx="6309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Total Case not related to Log Team (%)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3273552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E2761"/>
                </a:solidFill>
              </a:rPr>
              <a:t>9  (47%)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Problems Pattern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365760" y="1097280"/>
          <a:ext cx="5486400" cy="5303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217920" y="1188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2761"/>
                </a:solidFill>
              </a:rPr>
              <a:t>Category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0" y="11887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E2761"/>
                </a:solidFill>
              </a:rPr>
              <a:t>Cases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11887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E2761"/>
                </a:solidFill>
              </a:rPr>
              <a:t>%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691640"/>
            <a:ext cx="274320" cy="2743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6459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天雨/水濕問題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0" y="16459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A1A2E"/>
                </a:solidFill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16459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1A2E"/>
                </a:solidFill>
              </a:rPr>
              <a:t>40%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148839"/>
            <a:ext cx="274320" cy="27432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21031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包裝問題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21031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A1A2E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21031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1A2E"/>
                </a:solidFill>
              </a:rPr>
              <a:t>30%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2606039"/>
            <a:ext cx="274320" cy="274320"/>
          </a:xfrm>
          <a:prstGeom prst="rect">
            <a:avLst/>
          </a:prstGeom>
          <a:solidFill>
            <a:srgbClr val="45B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25603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其他物流問題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25603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A1A2E"/>
                </a:solidFill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25603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1A2E"/>
                </a:solidFill>
              </a:rPr>
              <a:t>20%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3063239"/>
            <a:ext cx="274320" cy="274320"/>
          </a:xfrm>
          <a:prstGeom prst="rect">
            <a:avLst/>
          </a:prstGeom>
          <a:solidFill>
            <a:srgbClr val="96C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30175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溫度問題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0" y="3017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A1A2E"/>
                </a:solidFill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3017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1A2E"/>
                </a:solidFill>
              </a:rPr>
              <a:t>10%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Case Review – 天雨/水濕問題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51560"/>
            <a:ext cx="5669280" cy="23774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12471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E2761"/>
                </a:solidFill>
              </a:rPr>
              <a:t>Product ID: P0150001_S_300311565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399031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</a:rPr>
              <a:t>ROYCE' 純巧克力 - 純苦味及特濃苦味 (40pcs) (新舊包裝隨機發送) [日本直送]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737360"/>
            <a:ext cx="5394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收貨時已被來歷不明液體濕透包裝。
 如果咁狀況都送貨，不如去返門市買無咁嬲，又唔係平過人，百幾蚊比啲水災貨個客。搏個客唔睇唔理？</a:t>
            </a:r>
          </a:p>
        </p:txBody>
      </p:sp>
      <p:pic>
        <p:nvPicPr>
          <p:cNvPr id="9" name="Picture 8" descr="天雨_水濕問題_P0150001_S_300311565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051560"/>
            <a:ext cx="5669280" cy="237744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74320" y="3566160"/>
            <a:ext cx="5669280" cy="23774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363931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E2761"/>
                </a:solidFill>
              </a:rPr>
              <a:t>Product ID: P0150001_S_300311565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391363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</a:rPr>
              <a:t>ROYCE' 純巧克力 - 純苦味及特濃苦味 (40pcs) (新舊包裝隨機發送) [日本直送]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4251960"/>
            <a:ext cx="5394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落雨太大你可致電我改時間
 總不能將濕透的貨品送來吧？
 本打算送人，現在應該連食都不可能
 完全失望，可以退款嗎？</a:t>
            </a:r>
          </a:p>
        </p:txBody>
      </p:sp>
      <p:pic>
        <p:nvPicPr>
          <p:cNvPr id="14" name="Picture 13" descr="天雨_水濕問題_P0150001_S_300311565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3566160"/>
            <a:ext cx="5669280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Case Review – 包裝問題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51560"/>
            <a:ext cx="5669280" cy="23774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12471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E2761"/>
                </a:solidFill>
              </a:rPr>
              <a:t>Product ID: H0888001_S_10147334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399031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</a:rPr>
              <a:t>[優惠套裝] proskin 深層滋潤沐浴乳霜(白茶花與溫泉礦物) 950g 2支 + 經典松木殺菌潔手液150g | 沐浴露 沖涼液 (新舊包裝隨機發送)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737360"/>
            <a:ext cx="5394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沐浴露流晒出嚟</a:t>
            </a:r>
          </a:p>
        </p:txBody>
      </p:sp>
      <p:pic>
        <p:nvPicPr>
          <p:cNvPr id="9" name="Picture 8" descr="包裝問題_H0888001_S_10147334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051560"/>
            <a:ext cx="5669280" cy="237744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74320" y="3566160"/>
            <a:ext cx="5669280" cy="23774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363931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E2761"/>
                </a:solidFill>
              </a:rPr>
              <a:t>Product ID: S2090001_S_4001473F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391363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</a:rPr>
              <a:t>[原箱] 罐裝 青檸味 有氣梳打水 (330毫升 X 24)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4251960"/>
            <a:ext cx="5394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收到貨物時發現包裝有損壞，並用封箱膠紙修補，另外有四罐貨品有損壞情況！</a:t>
            </a:r>
          </a:p>
        </p:txBody>
      </p:sp>
      <p:pic>
        <p:nvPicPr>
          <p:cNvPr id="14" name="Picture 13" descr="包裝問題_S2090001_S_4001473F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3566160"/>
            <a:ext cx="5669280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Case Review – 其他物流問題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51560"/>
            <a:ext cx="5669280" cy="23774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12471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E2761"/>
                </a:solidFill>
              </a:rPr>
              <a:t>Product ID: S2090001_S_4001473F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399031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</a:rPr>
              <a:t>[原箱] 罐裝 青檸味 有氣梳打水 (330毫升 X 24)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737360"/>
            <a:ext cx="5394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24罐入面有8罐有問題，過份左囉！</a:t>
            </a:r>
          </a:p>
        </p:txBody>
      </p:sp>
      <p:pic>
        <p:nvPicPr>
          <p:cNvPr id="9" name="Picture 8" descr="其他物流問題_S2090001_S_4001473F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051560"/>
            <a:ext cx="5669280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Case Review – 溫度問題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51560"/>
            <a:ext cx="5669280" cy="23774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12471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E2761"/>
                </a:solidFill>
              </a:rPr>
              <a:t>Product ID: H0888001_S_10155816A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399031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</a:rPr>
              <a:t>[日本進口] 北海道十勝A5豐西牛漢堡 x 2 #急凍-18°C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737360"/>
            <a:ext cx="5394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收貨後，漢堡扒已經溶晒雪，變成一糊扁平的軟肉泥，實在難以接受😮‍💨👎🏻</a:t>
            </a:r>
          </a:p>
        </p:txBody>
      </p:sp>
      <p:pic>
        <p:nvPicPr>
          <p:cNvPr id="9" name="Picture 8" descr="溫度問題_H0888001_S_10155816A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051560"/>
            <a:ext cx="5669280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Suggestions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11612880" cy="868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1430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2761"/>
                </a:solidFill>
              </a:rPr>
              <a:t>天雨/水濕問題 (40%)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4630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我們會再請同事在雨天派送時多加留意，小心處理。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057400"/>
            <a:ext cx="11612880" cy="868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21031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2761"/>
                </a:solidFill>
              </a:rPr>
              <a:t>包裝問題 (30%)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423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建議檢討包裝物料的防漏、防壓及罐裝產品保護效能，並加強外包裝防水層，避免液體滲透或貨品受壓變形。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017520"/>
            <a:ext cx="11612880" cy="868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306323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2761"/>
                </a:solidFill>
              </a:rPr>
              <a:t>其他物流問題 (20%)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3383279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建議了解配送困難原因，加強與客戶溝通，及時跟進派送異常情況。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977639"/>
            <a:ext cx="11612880" cy="868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402335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2761"/>
                </a:solidFill>
              </a:rPr>
              <a:t>溫度問題 (10%)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43434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建議監察 Digimobi Report，確保急凍/冷藏食品在適當溫度下配送。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